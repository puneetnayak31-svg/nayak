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b7e951-ad42-e28f-2ca7-f0c4375ad596}">
          <p14:sldIdLst>
            <p14:sldId id="256"/>
          </p14:sldIdLst>
        </p14:section>
        <p14:section name="Capabilities" id="{c5d13478-101f-74aa-9fbf-892726f2ea73}">
          <p14:sldIdLst>
            <p14:sldId id="257"/>
          </p14:sldIdLst>
        </p14:section>
        <p14:section name="Storytelling &amp; commitment" id="{168f5296-7780-3218-97ad-24452ff01bd5}">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world grapples with understanding artificial intelligence, its many uses and its risks, India Today Group jumped head first into using it to revolutionise newsroom operations. Our market-leading newsroom hasn't just cracked AI; it has seamlessly integrated it across our extensive newsroom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AI news anchors to an AI-enabled content management system to AI audio-visual production, our AI effort goes well beyond the traditional confines of front and back office operations. As a first of its kind in India, we created AI doubles of our news anchors. AI also handles repetitive tasks like weather, air quality, fuel prices and commodity rates. Optional aside: we used AI to bring alive India Today magazine covers since 1975.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Indian news media, India Today Group was the first to produce in-house and broadcast a fully AI-made film, in May 2025, during Operation Sindoor. With no live footage available, AI recreated the operation from publicly available information. We also recreated India's national anthem with AI, authentically recreating the appearance and voices of the freedom fighters. This is only a sneak peek. We invite you to join us. Truth and credibility stay at the heart of it. That is our commitment: a 50-year legacy gearing for the next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Hero-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nayak/e234e072-51fc-5a89-bcc1-7181d2d8a173/scratchpad/build/assets/logo.png">    </p:cNvPr>
          <p:cNvPicPr>
            <a:picLocks noChangeAspect="1"/>
          </p:cNvPicPr>
          <p:nvPr/>
        </p:nvPicPr>
        <p:blipFill>
          <a:blip r:embed="rId1"/>
          <a:stretch>
            <a:fillRect/>
          </a:stretch>
        </p:blipFill>
        <p:spPr>
          <a:xfrm>
            <a:off x="548640" y="411480"/>
            <a:ext cx="768096" cy="7315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nayak/e234e072-51fc-5a89-bcc1-7181d2d8a173/scratchpad/build/assets/logo.png">    </p:cNvPr>
          <p:cNvPicPr>
            <a:picLocks noChangeAspect="1"/>
          </p:cNvPicPr>
          <p:nvPr/>
        </p:nvPicPr>
        <p:blipFill>
          <a:blip r:embed="rId1"/>
          <a:stretch>
            <a:fillRect/>
          </a:stretch>
        </p:blipFill>
        <p:spPr>
          <a:xfrm>
            <a:off x="11045952" y="411480"/>
            <a:ext cx="621792" cy="594360"/>
          </a:xfrm>
          <a:prstGeom prst="rect">
            <a:avLst/>
          </a:prstGeom>
        </p:spPr>
      </p:pic>
      <p:sp>
        <p:nvSpPr>
          <p:cNvPr id="3" name="Text 0"/>
          <p:cNvSpPr/>
          <p:nvPr>
            <p:ph idx="101" type="title" hasCustomPrompt="1"/>
          </p:nvPr>
        </p:nvSpPr>
        <p:spPr>
          <a:xfrm>
            <a:off x="548640" y="640080"/>
            <a:ext cx="987552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384048"/>
            <a:ext cx="7315200" cy="274320"/>
          </a:xfrm>
          <a:prstGeom prst="rect">
            <a:avLst/>
          </a:prstGeom>
          <a:noFill/>
          <a:ln/>
        </p:spPr>
        <p:txBody>
          <a:bodyPr wrap="square" rtlCol="0"/>
          <a:lstStyle>
            <a:lvl1pPr algn="l" indent="0" marL="0">
              <a:buNone/>
              <a:defRPr lang="en-US" sz="1100" b="1" spc="160" kern="0" dirty="0">
                <a:solidFill>
                  <a:schemeClr val="accent1"/>
                </a:solidFill>
              </a:defRPr>
            </a:lvl1pPr>
          </a:lstStyle>
          <a:p>
            <a:pPr algn="l" indent="0" marL="0">
              <a:buNone/>
            </a:pP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Wedge motif" descr="/tmp/claude-0/-home-user-nayak/e234e072-51fc-5a89-bcc1-7181d2d8a173/scratchpad/build/assets/wedge_hero.png">    </p:cNvPr>
          <p:cNvPicPr>
            <a:picLocks noChangeAspect="1"/>
          </p:cNvPicPr>
          <p:nvPr/>
        </p:nvPicPr>
        <p:blipFill>
          <a:blip r:embed="rId1"/>
          <a:stretch>
            <a:fillRect/>
          </a:stretch>
        </p:blipFill>
        <p:spPr>
          <a:xfrm>
            <a:off x="6492240" y="-320040"/>
            <a:ext cx="6126480" cy="5724144"/>
          </a:xfrm>
          <a:prstGeom prst="rect">
            <a:avLst/>
          </a:prstGeom>
        </p:spPr>
      </p:pic>
      <p:sp>
        <p:nvSpPr>
          <p:cNvPr id="3" name="Text 0"/>
          <p:cNvSpPr txBox="1"/>
          <p:nvPr/>
        </p:nvSpPr>
        <p:spPr>
          <a:xfrm>
            <a:off x="548640" y="1508760"/>
            <a:ext cx="6400800" cy="274320"/>
          </a:xfrm>
          <a:prstGeom prst="rect">
            <a:avLst/>
          </a:prstGeom>
          <a:noFill/>
          <a:ln/>
        </p:spPr>
        <p:txBody>
          <a:bodyPr wrap="square" lIns="0" tIns="0" rIns="0" bIns="0" rtlCol="0" anchor="ctr"/>
          <a:lstStyle/>
          <a:p>
            <a:pPr indent="0" marL="0">
              <a:buNone/>
            </a:pPr>
            <a:r>
              <a:rPr lang="en-US" sz="1100" b="1" spc="160" kern="0" dirty="0">
                <a:solidFill>
                  <a:schemeClr val="accent1"/>
                </a:solidFill>
              </a:rPr>
              <a:t>AI AT INDIA TODAY GROUP</a:t>
            </a:r>
            <a:endParaRPr lang="en-US" sz="1100" dirty="0"/>
          </a:p>
        </p:txBody>
      </p:sp>
      <p:sp>
        <p:nvSpPr>
          <p:cNvPr id="4" name="Headline"/>
          <p:cNvSpPr txBox="1"/>
          <p:nvPr/>
        </p:nvSpPr>
        <p:spPr>
          <a:xfrm>
            <a:off x="548640" y="1828800"/>
            <a:ext cx="6766560" cy="1325880"/>
          </a:xfrm>
          <a:prstGeom prst="rect">
            <a:avLst/>
          </a:prstGeom>
          <a:noFill/>
          <a:ln/>
        </p:spPr>
        <p:txBody>
          <a:bodyPr wrap="square" lIns="0" tIns="0" rIns="0" bIns="0" rtlCol="0" anchor="t"/>
          <a:lstStyle/>
          <a:p>
            <a:pPr indent="0" marL="0">
              <a:lnSpc>
                <a:spcPct val="92000"/>
              </a:lnSpc>
              <a:buNone/>
            </a:pPr>
            <a:r>
              <a:rPr lang="en-US" sz="4600" b="1" dirty="0">
                <a:solidFill>
                  <a:schemeClr val="bg1"/>
                </a:solidFill>
              </a:rPr>
              <a:t>The world debated AI.</a:t>
            </a:r>
            <a:endParaRPr lang="en-US" sz="4600" dirty="0"/>
          </a:p>
          <a:p>
            <a:pPr indent="0" marL="0">
              <a:lnSpc>
                <a:spcPct val="92000"/>
              </a:lnSpc>
              <a:buNone/>
            </a:pPr>
            <a:r>
              <a:rPr lang="en-US" sz="4600" b="1" dirty="0">
                <a:solidFill>
                  <a:schemeClr val="accent4"/>
                </a:solidFill>
              </a:rPr>
              <a:t>We put it on air.</a:t>
            </a:r>
            <a:endParaRPr lang="en-US" sz="4600" dirty="0"/>
          </a:p>
        </p:txBody>
      </p:sp>
      <p:sp>
        <p:nvSpPr>
          <p:cNvPr id="5" name="Intro"/>
          <p:cNvSpPr txBox="1"/>
          <p:nvPr/>
        </p:nvSpPr>
        <p:spPr>
          <a:xfrm>
            <a:off x="548640" y="3337560"/>
            <a:ext cx="5669280" cy="868680"/>
          </a:xfrm>
          <a:prstGeom prst="rect">
            <a:avLst/>
          </a:prstGeom>
          <a:noFill/>
          <a:ln/>
        </p:spPr>
        <p:txBody>
          <a:bodyPr wrap="square" lIns="0" tIns="0" rIns="0" bIns="0" rtlCol="0" anchor="t"/>
          <a:lstStyle/>
          <a:p>
            <a:pPr indent="0" marL="0">
              <a:buNone/>
            </a:pPr>
            <a:r>
              <a:rPr lang="en-US" sz="1500" dirty="0">
                <a:solidFill>
                  <a:schemeClr val="accent6"/>
                </a:solidFill>
              </a:rPr>
              <a:t>Our market-leading newsroom hasn't just cracked artificial intelligence. It has woven AI seamlessly through its entire workflow, from the anchor desk to the content engine.</a:t>
            </a:r>
            <a:endParaRPr lang="en-US" sz="1500" dirty="0"/>
          </a:p>
        </p:txBody>
      </p:sp>
      <p:sp>
        <p:nvSpPr>
          <p:cNvPr id="6" name="Text 3"/>
          <p:cNvSpPr txBox="1"/>
          <p:nvPr/>
        </p:nvSpPr>
        <p:spPr>
          <a:xfrm>
            <a:off x="548640" y="4846320"/>
            <a:ext cx="5486400" cy="256032"/>
          </a:xfrm>
          <a:prstGeom prst="rect">
            <a:avLst/>
          </a:prstGeom>
          <a:noFill/>
          <a:ln/>
        </p:spPr>
        <p:txBody>
          <a:bodyPr wrap="square" lIns="0" tIns="0" rIns="0" bIns="0" rtlCol="0" anchor="ctr"/>
          <a:lstStyle/>
          <a:p>
            <a:pPr indent="0" marL="0">
              <a:buNone/>
            </a:pPr>
            <a:r>
              <a:rPr lang="en-US" sz="1000" b="1" spc="160" kern="0" dirty="0">
                <a:solidFill>
                  <a:schemeClr val="accent2"/>
                </a:solidFill>
              </a:rPr>
              <a:t>FIRSTS IN INDIAN NEWS MEDIA</a:t>
            </a:r>
            <a:endParaRPr lang="en-US" sz="1000" dirty="0"/>
          </a:p>
        </p:txBody>
      </p:sp>
      <p:sp>
        <p:nvSpPr>
          <p:cNvPr id="7" name="Text 4"/>
          <p:cNvSpPr txBox="1"/>
          <p:nvPr/>
        </p:nvSpPr>
        <p:spPr>
          <a:xfrm>
            <a:off x="548640" y="5193792"/>
            <a:ext cx="548640" cy="384048"/>
          </a:xfrm>
          <a:prstGeom prst="rect">
            <a:avLst/>
          </a:prstGeom>
          <a:noFill/>
          <a:ln/>
        </p:spPr>
        <p:txBody>
          <a:bodyPr wrap="square" lIns="0" tIns="0" rIns="0" bIns="0" rtlCol="0" anchor="t"/>
          <a:lstStyle/>
          <a:p>
            <a:pPr indent="0" marL="0">
              <a:buNone/>
            </a:pPr>
            <a:r>
              <a:rPr lang="en-US" sz="2200" b="1" dirty="0">
                <a:solidFill>
                  <a:schemeClr val="accent1"/>
                </a:solidFill>
              </a:rPr>
              <a:t>01</a:t>
            </a:r>
            <a:endParaRPr lang="en-US" sz="2200" dirty="0"/>
          </a:p>
        </p:txBody>
      </p:sp>
      <p:sp>
        <p:nvSpPr>
          <p:cNvPr id="8" name="Text 5"/>
          <p:cNvSpPr txBox="1"/>
          <p:nvPr/>
        </p:nvSpPr>
        <p:spPr>
          <a:xfrm>
            <a:off x="548640" y="5623560"/>
            <a:ext cx="2148840" cy="548640"/>
          </a:xfrm>
          <a:prstGeom prst="rect">
            <a:avLst/>
          </a:prstGeom>
          <a:noFill/>
          <a:ln/>
        </p:spPr>
        <p:txBody>
          <a:bodyPr wrap="square" lIns="0" tIns="0" rIns="0" bIns="0" rtlCol="0" anchor="t"/>
          <a:lstStyle/>
          <a:p>
            <a:pPr indent="0" marL="0">
              <a:buNone/>
            </a:pPr>
            <a:r>
              <a:rPr lang="en-US" sz="1250" dirty="0">
                <a:solidFill>
                  <a:schemeClr val="accent2"/>
                </a:solidFill>
              </a:rPr>
              <a:t>India's first</a:t>
            </a:r>
            <a:endParaRPr lang="en-US" sz="1250" dirty="0"/>
          </a:p>
          <a:p>
            <a:pPr indent="0" marL="0">
              <a:buNone/>
            </a:pPr>
            <a:r>
              <a:rPr lang="en-US" sz="1250" b="1" dirty="0">
                <a:solidFill>
                  <a:schemeClr val="bg1"/>
                </a:solidFill>
              </a:rPr>
              <a:t>AI news anchor</a:t>
            </a:r>
            <a:endParaRPr lang="en-US" sz="1250" dirty="0"/>
          </a:p>
        </p:txBody>
      </p:sp>
      <p:sp>
        <p:nvSpPr>
          <p:cNvPr id="9" name="Divider 1"/>
          <p:cNvSpPr/>
          <p:nvPr/>
        </p:nvSpPr>
        <p:spPr>
          <a:xfrm>
            <a:off x="2889504" y="5257800"/>
            <a:ext cx="0" cy="868680"/>
          </a:xfrm>
          <a:prstGeom prst="line">
            <a:avLst/>
          </a:prstGeom>
          <a:noFill/>
          <a:ln w="12700">
            <a:solidFill>
              <a:srgbClr val="2C2C36"/>
            </a:solidFill>
            <a:prstDash val="solid"/>
          </a:ln>
        </p:spPr>
      </p:sp>
      <p:sp>
        <p:nvSpPr>
          <p:cNvPr id="10" name="Text 7"/>
          <p:cNvSpPr txBox="1"/>
          <p:nvPr/>
        </p:nvSpPr>
        <p:spPr>
          <a:xfrm>
            <a:off x="3017520" y="5193792"/>
            <a:ext cx="548640" cy="384048"/>
          </a:xfrm>
          <a:prstGeom prst="rect">
            <a:avLst/>
          </a:prstGeom>
          <a:noFill/>
          <a:ln/>
        </p:spPr>
        <p:txBody>
          <a:bodyPr wrap="square" lIns="0" tIns="0" rIns="0" bIns="0" rtlCol="0" anchor="t"/>
          <a:lstStyle/>
          <a:p>
            <a:pPr indent="0" marL="0">
              <a:buNone/>
            </a:pPr>
            <a:r>
              <a:rPr lang="en-US" sz="2200" b="1" dirty="0">
                <a:solidFill>
                  <a:schemeClr val="accent1"/>
                </a:solidFill>
              </a:rPr>
              <a:t>02</a:t>
            </a:r>
            <a:endParaRPr lang="en-US" sz="2200" dirty="0"/>
          </a:p>
        </p:txBody>
      </p:sp>
      <p:sp>
        <p:nvSpPr>
          <p:cNvPr id="11" name="Text 8"/>
          <p:cNvSpPr txBox="1"/>
          <p:nvPr/>
        </p:nvSpPr>
        <p:spPr>
          <a:xfrm>
            <a:off x="3017520" y="5623560"/>
            <a:ext cx="2148840" cy="548640"/>
          </a:xfrm>
          <a:prstGeom prst="rect">
            <a:avLst/>
          </a:prstGeom>
          <a:noFill/>
          <a:ln/>
        </p:spPr>
        <p:txBody>
          <a:bodyPr wrap="square" lIns="0" tIns="0" rIns="0" bIns="0" rtlCol="0" anchor="t"/>
          <a:lstStyle/>
          <a:p>
            <a:pPr indent="0" marL="0">
              <a:buNone/>
            </a:pPr>
            <a:r>
              <a:rPr lang="en-US" sz="1250" dirty="0">
                <a:solidFill>
                  <a:schemeClr val="accent2"/>
                </a:solidFill>
              </a:rPr>
              <a:t>AI doubles of</a:t>
            </a:r>
            <a:endParaRPr lang="en-US" sz="1250" dirty="0"/>
          </a:p>
          <a:p>
            <a:pPr indent="0" marL="0">
              <a:buNone/>
            </a:pPr>
            <a:r>
              <a:rPr lang="en-US" sz="1250" b="1" dirty="0">
                <a:solidFill>
                  <a:schemeClr val="bg1"/>
                </a:solidFill>
              </a:rPr>
              <a:t>our news anchors</a:t>
            </a:r>
            <a:endParaRPr lang="en-US" sz="1250" dirty="0"/>
          </a:p>
        </p:txBody>
      </p:sp>
      <p:sp>
        <p:nvSpPr>
          <p:cNvPr id="12" name="Divider 2"/>
          <p:cNvSpPr/>
          <p:nvPr/>
        </p:nvSpPr>
        <p:spPr>
          <a:xfrm>
            <a:off x="5358384" y="5257800"/>
            <a:ext cx="0" cy="868680"/>
          </a:xfrm>
          <a:prstGeom prst="line">
            <a:avLst/>
          </a:prstGeom>
          <a:noFill/>
          <a:ln w="12700">
            <a:solidFill>
              <a:srgbClr val="2C2C36"/>
            </a:solidFill>
            <a:prstDash val="solid"/>
          </a:ln>
        </p:spPr>
      </p:sp>
      <p:sp>
        <p:nvSpPr>
          <p:cNvPr id="13" name="Text 10"/>
          <p:cNvSpPr txBox="1"/>
          <p:nvPr/>
        </p:nvSpPr>
        <p:spPr>
          <a:xfrm>
            <a:off x="5486400" y="5193792"/>
            <a:ext cx="548640" cy="384048"/>
          </a:xfrm>
          <a:prstGeom prst="rect">
            <a:avLst/>
          </a:prstGeom>
          <a:noFill/>
          <a:ln/>
        </p:spPr>
        <p:txBody>
          <a:bodyPr wrap="square" lIns="0" tIns="0" rIns="0" bIns="0" rtlCol="0" anchor="t"/>
          <a:lstStyle/>
          <a:p>
            <a:pPr indent="0" marL="0">
              <a:buNone/>
            </a:pPr>
            <a:r>
              <a:rPr lang="en-US" sz="2200" b="1" dirty="0">
                <a:solidFill>
                  <a:schemeClr val="accent1"/>
                </a:solidFill>
              </a:rPr>
              <a:t>03</a:t>
            </a:r>
            <a:endParaRPr lang="en-US" sz="2200" dirty="0"/>
          </a:p>
        </p:txBody>
      </p:sp>
      <p:sp>
        <p:nvSpPr>
          <p:cNvPr id="14" name="Text 11"/>
          <p:cNvSpPr txBox="1"/>
          <p:nvPr/>
        </p:nvSpPr>
        <p:spPr>
          <a:xfrm>
            <a:off x="5486400" y="5623560"/>
            <a:ext cx="2148840" cy="548640"/>
          </a:xfrm>
          <a:prstGeom prst="rect">
            <a:avLst/>
          </a:prstGeom>
          <a:noFill/>
          <a:ln/>
        </p:spPr>
        <p:txBody>
          <a:bodyPr wrap="square" lIns="0" tIns="0" rIns="0" bIns="0" rtlCol="0" anchor="t"/>
          <a:lstStyle/>
          <a:p>
            <a:pPr indent="0" marL="0">
              <a:buNone/>
            </a:pPr>
            <a:r>
              <a:rPr lang="en-US" sz="1250" dirty="0">
                <a:solidFill>
                  <a:schemeClr val="accent2"/>
                </a:solidFill>
              </a:rPr>
              <a:t>A fully AI-made film,</a:t>
            </a:r>
            <a:endParaRPr lang="en-US" sz="1250" dirty="0"/>
          </a:p>
          <a:p>
            <a:pPr indent="0" marL="0">
              <a:buNone/>
            </a:pPr>
            <a:r>
              <a:rPr lang="en-US" sz="1250" b="1" dirty="0">
                <a:solidFill>
                  <a:schemeClr val="bg1"/>
                </a:solidFill>
              </a:rPr>
              <a:t>made and aired in-house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body" hasCustomPrompt="1"/>
          </p:nvPr>
        </p:nvSpPr>
        <p:spPr>
          <a:xfrm>
            <a:off x="548640" y="384048"/>
            <a:ext cx="7315200" cy="274320"/>
          </a:xfrm>
          <a:prstGeom prst="rect">
            <a:avLst/>
          </a:prstGeom>
          <a:noFill/>
          <a:ln/>
        </p:spPr>
        <p:txBody>
          <a:bodyPr wrap="square" lIns="0" tIns="0" rIns="0" bIns="0" rtlCol="0"/>
          <a:lstStyle/>
          <a:p>
            <a:pPr algn="l" indent="0" marL="0">
              <a:buNone/>
            </a:pPr>
            <a:r>
              <a:rPr lang="en-US" sz="1100" b="1" spc="160" kern="0" dirty="0">
                <a:solidFill>
                  <a:schemeClr val="accent1"/>
                </a:solidFill>
              </a:rPr>
              <a:t>AI ACROSS THE NEWSROOM</a:t>
            </a:r>
            <a:endParaRPr lang="en-US" sz="1100" dirty="0"/>
          </a:p>
        </p:txBody>
      </p:sp>
      <p:sp>
        <p:nvSpPr>
          <p:cNvPr id="3" name="Text 0"/>
          <p:cNvSpPr/>
          <p:nvPr>
            <p:ph idx="101" type="title" hasCustomPrompt="1"/>
          </p:nvPr>
        </p:nvSpPr>
        <p:spPr>
          <a:xfrm>
            <a:off x="548640" y="640080"/>
            <a:ext cx="9875520" cy="777240"/>
          </a:xfrm>
          <a:prstGeom prst="rect">
            <a:avLst/>
          </a:prstGeom>
          <a:noFill/>
          <a:ln/>
        </p:spPr>
        <p:txBody>
          <a:bodyPr wrap="square" lIns="0" tIns="0" rIns="0" bIns="0" rtlCol="0" anchor="t"/>
          <a:lstStyle/>
          <a:p>
            <a:pPr algn="l" indent="0" marL="0">
              <a:buNone/>
            </a:pPr>
            <a:r>
              <a:rPr lang="en-US" sz="3400" b="1" dirty="0">
                <a:solidFill>
                  <a:schemeClr val="bg1"/>
                </a:solidFill>
              </a:rPr>
              <a:t>One newsroom. AI in every layer.</a:t>
            </a:r>
            <a:endParaRPr lang="en-US" sz="3400" dirty="0"/>
          </a:p>
        </p:txBody>
      </p:sp>
      <p:sp>
        <p:nvSpPr>
          <p:cNvPr id="4" name="FRONT OFFICE bracket"/>
          <p:cNvSpPr/>
          <p:nvPr/>
        </p:nvSpPr>
        <p:spPr>
          <a:xfrm>
            <a:off x="548640" y="1828800"/>
            <a:ext cx="5410048" cy="0"/>
          </a:xfrm>
          <a:prstGeom prst="line">
            <a:avLst/>
          </a:prstGeom>
          <a:noFill/>
          <a:ln w="12700">
            <a:solidFill>
              <a:srgbClr val="6E6E7A"/>
            </a:solidFill>
            <a:prstDash val="solid"/>
          </a:ln>
        </p:spPr>
      </p:sp>
      <p:sp>
        <p:nvSpPr>
          <p:cNvPr id="5" name="FRONT OFFICE bracket L"/>
          <p:cNvSpPr/>
          <p:nvPr/>
        </p:nvSpPr>
        <p:spPr>
          <a:xfrm>
            <a:off x="548640" y="1828800"/>
            <a:ext cx="0" cy="128016"/>
          </a:xfrm>
          <a:prstGeom prst="line">
            <a:avLst/>
          </a:prstGeom>
          <a:noFill/>
          <a:ln w="12700">
            <a:solidFill>
              <a:srgbClr val="6E6E7A"/>
            </a:solidFill>
            <a:prstDash val="solid"/>
          </a:ln>
        </p:spPr>
      </p:sp>
      <p:sp>
        <p:nvSpPr>
          <p:cNvPr id="6" name="FRONT OFFICE bracket R"/>
          <p:cNvSpPr/>
          <p:nvPr/>
        </p:nvSpPr>
        <p:spPr>
          <a:xfrm>
            <a:off x="5958688" y="1828800"/>
            <a:ext cx="0" cy="128016"/>
          </a:xfrm>
          <a:prstGeom prst="line">
            <a:avLst/>
          </a:prstGeom>
          <a:noFill/>
          <a:ln w="12700">
            <a:solidFill>
              <a:srgbClr val="6E6E7A"/>
            </a:solidFill>
            <a:prstDash val="solid"/>
          </a:ln>
        </p:spPr>
      </p:sp>
      <p:sp>
        <p:nvSpPr>
          <p:cNvPr id="7" name="Text 5"/>
          <p:cNvSpPr txBox="1"/>
          <p:nvPr/>
        </p:nvSpPr>
        <p:spPr>
          <a:xfrm>
            <a:off x="548640" y="1517904"/>
            <a:ext cx="5410048" cy="237744"/>
          </a:xfrm>
          <a:prstGeom prst="rect">
            <a:avLst/>
          </a:prstGeom>
          <a:noFill/>
          <a:ln/>
        </p:spPr>
        <p:txBody>
          <a:bodyPr wrap="square" lIns="0" tIns="0" rIns="0" bIns="0" rtlCol="0" anchor="ctr"/>
          <a:lstStyle/>
          <a:p>
            <a:pPr algn="ctr" indent="0" marL="0">
              <a:buNone/>
            </a:pPr>
            <a:r>
              <a:rPr lang="en-US" sz="950" b="1" spc="160" kern="0" dirty="0">
                <a:solidFill>
                  <a:schemeClr val="accent2"/>
                </a:solidFill>
              </a:rPr>
              <a:t>FRONT OFFICE</a:t>
            </a:r>
            <a:endParaRPr lang="en-US" sz="950" dirty="0"/>
          </a:p>
        </p:txBody>
      </p:sp>
      <p:sp>
        <p:nvSpPr>
          <p:cNvPr id="8" name="BACK OFFICE bracket"/>
          <p:cNvSpPr/>
          <p:nvPr/>
        </p:nvSpPr>
        <p:spPr>
          <a:xfrm>
            <a:off x="6233008" y="1828800"/>
            <a:ext cx="5410048" cy="0"/>
          </a:xfrm>
          <a:prstGeom prst="line">
            <a:avLst/>
          </a:prstGeom>
          <a:noFill/>
          <a:ln w="12700">
            <a:solidFill>
              <a:srgbClr val="6E6E7A"/>
            </a:solidFill>
            <a:prstDash val="solid"/>
          </a:ln>
        </p:spPr>
      </p:sp>
      <p:sp>
        <p:nvSpPr>
          <p:cNvPr id="9" name="BACK OFFICE bracket L"/>
          <p:cNvSpPr/>
          <p:nvPr/>
        </p:nvSpPr>
        <p:spPr>
          <a:xfrm>
            <a:off x="6233008" y="1828800"/>
            <a:ext cx="0" cy="128016"/>
          </a:xfrm>
          <a:prstGeom prst="line">
            <a:avLst/>
          </a:prstGeom>
          <a:noFill/>
          <a:ln w="12700">
            <a:solidFill>
              <a:srgbClr val="6E6E7A"/>
            </a:solidFill>
            <a:prstDash val="solid"/>
          </a:ln>
        </p:spPr>
      </p:sp>
      <p:sp>
        <p:nvSpPr>
          <p:cNvPr id="10" name="BACK OFFICE bracket R"/>
          <p:cNvSpPr/>
          <p:nvPr/>
        </p:nvSpPr>
        <p:spPr>
          <a:xfrm>
            <a:off x="11643055" y="1828800"/>
            <a:ext cx="0" cy="128016"/>
          </a:xfrm>
          <a:prstGeom prst="line">
            <a:avLst/>
          </a:prstGeom>
          <a:noFill/>
          <a:ln w="12700">
            <a:solidFill>
              <a:srgbClr val="6E6E7A"/>
            </a:solidFill>
            <a:prstDash val="solid"/>
          </a:ln>
        </p:spPr>
      </p:sp>
      <p:sp>
        <p:nvSpPr>
          <p:cNvPr id="11" name="Text 9"/>
          <p:cNvSpPr txBox="1"/>
          <p:nvPr/>
        </p:nvSpPr>
        <p:spPr>
          <a:xfrm>
            <a:off x="6233008" y="1517904"/>
            <a:ext cx="5410048" cy="237744"/>
          </a:xfrm>
          <a:prstGeom prst="rect">
            <a:avLst/>
          </a:prstGeom>
          <a:noFill/>
          <a:ln/>
        </p:spPr>
        <p:txBody>
          <a:bodyPr wrap="square" lIns="0" tIns="0" rIns="0" bIns="0" rtlCol="0" anchor="ctr"/>
          <a:lstStyle/>
          <a:p>
            <a:pPr algn="ctr" indent="0" marL="0">
              <a:buNone/>
            </a:pPr>
            <a:r>
              <a:rPr lang="en-US" sz="950" b="1" spc="160" kern="0" dirty="0">
                <a:solidFill>
                  <a:schemeClr val="accent2"/>
                </a:solidFill>
              </a:rPr>
              <a:t>BACK OFFICE</a:t>
            </a:r>
            <a:endParaRPr lang="en-US" sz="950" dirty="0"/>
          </a:p>
        </p:txBody>
      </p:sp>
      <p:sp>
        <p:nvSpPr>
          <p:cNvPr id="12" name="Signal line"/>
          <p:cNvSpPr/>
          <p:nvPr/>
        </p:nvSpPr>
        <p:spPr>
          <a:xfrm>
            <a:off x="877824" y="2569464"/>
            <a:ext cx="8526551" cy="0"/>
          </a:xfrm>
          <a:prstGeom prst="line">
            <a:avLst/>
          </a:prstGeom>
          <a:noFill/>
          <a:ln w="15875">
            <a:solidFill>
              <a:srgbClr val="E31E24"/>
            </a:solidFill>
            <a:prstDash val="dash"/>
          </a:ln>
        </p:spPr>
      </p:sp>
      <p:sp>
        <p:nvSpPr>
          <p:cNvPr id="13" name="Stage 1 disc"/>
          <p:cNvSpPr/>
          <p:nvPr/>
        </p:nvSpPr>
        <p:spPr>
          <a:xfrm>
            <a:off x="548640" y="2240280"/>
            <a:ext cx="658368" cy="658368"/>
          </a:xfrm>
          <a:prstGeom prst="ellipse">
            <a:avLst/>
          </a:prstGeom>
          <a:solidFill>
            <a:srgbClr val="E31E24"/>
          </a:solidFill>
          <a:ln w="9525">
            <a:solidFill>
              <a:srgbClr val="E31E24"/>
            </a:solidFill>
            <a:prstDash val="solid"/>
          </a:ln>
        </p:spPr>
      </p:sp>
      <p:pic>
        <p:nvPicPr>
          <p:cNvPr id="14" name="Stage 1 icon" descr="preencoded.png">    </p:cNvPr>
          <p:cNvPicPr>
            <a:picLocks noChangeAspect="1"/>
          </p:cNvPicPr>
          <p:nvPr/>
        </p:nvPicPr>
        <p:blipFill>
          <a:blip r:embed="rId1"/>
          <a:stretch>
            <a:fillRect/>
          </a:stretch>
        </p:blipFill>
        <p:spPr>
          <a:xfrm>
            <a:off x="726399" y="2418039"/>
            <a:ext cx="302849" cy="302849"/>
          </a:xfrm>
          <a:prstGeom prst="rect">
            <a:avLst/>
          </a:prstGeom>
        </p:spPr>
      </p:pic>
      <p:sp>
        <p:nvSpPr>
          <p:cNvPr id="15" name="Text 12"/>
          <p:cNvSpPr txBox="1"/>
          <p:nvPr/>
        </p:nvSpPr>
        <p:spPr>
          <a:xfrm>
            <a:off x="548640" y="3154680"/>
            <a:ext cx="2567864" cy="237744"/>
          </a:xfrm>
          <a:prstGeom prst="rect">
            <a:avLst/>
          </a:prstGeom>
          <a:noFill/>
          <a:ln/>
        </p:spPr>
        <p:txBody>
          <a:bodyPr wrap="square" lIns="0" tIns="0" rIns="0" bIns="0" rtlCol="0" anchor="ctr"/>
          <a:lstStyle/>
          <a:p>
            <a:pPr indent="0" marL="0">
              <a:buNone/>
            </a:pPr>
            <a:r>
              <a:rPr lang="en-US" sz="1000" b="1" spc="160" kern="0" dirty="0">
                <a:solidFill>
                  <a:schemeClr val="accent1"/>
                </a:solidFill>
              </a:rPr>
              <a:t>PRESENT</a:t>
            </a:r>
            <a:endParaRPr lang="en-US" sz="1000" dirty="0"/>
          </a:p>
        </p:txBody>
      </p:sp>
      <p:sp>
        <p:nvSpPr>
          <p:cNvPr id="16" name="Text 13"/>
          <p:cNvSpPr txBox="1"/>
          <p:nvPr/>
        </p:nvSpPr>
        <p:spPr>
          <a:xfrm>
            <a:off x="548640" y="3429000"/>
            <a:ext cx="2567864" cy="658368"/>
          </a:xfrm>
          <a:prstGeom prst="rect">
            <a:avLst/>
          </a:prstGeom>
          <a:noFill/>
          <a:ln/>
        </p:spPr>
        <p:txBody>
          <a:bodyPr wrap="square" lIns="0" tIns="0" rIns="0" bIns="0" rtlCol="0" anchor="t"/>
          <a:lstStyle/>
          <a:p>
            <a:pPr indent="0" marL="0">
              <a:buNone/>
            </a:pPr>
            <a:r>
              <a:rPr lang="en-US" sz="1700" b="1" dirty="0">
                <a:solidFill>
                  <a:schemeClr val="bg1"/>
                </a:solidFill>
              </a:rPr>
              <a:t>AI Anchors &amp;</a:t>
            </a:r>
            <a:endParaRPr lang="en-US" sz="1700" dirty="0"/>
          </a:p>
          <a:p>
            <a:pPr indent="0" marL="0">
              <a:buNone/>
            </a:pPr>
            <a:r>
              <a:rPr lang="en-US" sz="1700" b="1" dirty="0">
                <a:solidFill>
                  <a:schemeClr val="bg1"/>
                </a:solidFill>
              </a:rPr>
              <a:t>AI Doubles</a:t>
            </a:r>
            <a:endParaRPr lang="en-US" sz="1700" dirty="0"/>
          </a:p>
        </p:txBody>
      </p:sp>
      <p:sp>
        <p:nvSpPr>
          <p:cNvPr id="17" name="Text 14"/>
          <p:cNvSpPr txBox="1"/>
          <p:nvPr/>
        </p:nvSpPr>
        <p:spPr>
          <a:xfrm>
            <a:off x="548640" y="4160520"/>
            <a:ext cx="2476424" cy="1234440"/>
          </a:xfrm>
          <a:prstGeom prst="rect">
            <a:avLst/>
          </a:prstGeom>
          <a:noFill/>
          <a:ln/>
        </p:spPr>
        <p:txBody>
          <a:bodyPr wrap="square" lIns="0" tIns="0" rIns="0" bIns="0" rtlCol="0" anchor="t"/>
          <a:lstStyle/>
          <a:p>
            <a:pPr indent="0" marL="0">
              <a:lnSpc>
                <a:spcPct val="108000"/>
              </a:lnSpc>
              <a:buNone/>
            </a:pPr>
            <a:r>
              <a:rPr lang="en-US" sz="1250" dirty="0">
                <a:solidFill>
                  <a:schemeClr val="accent2"/>
                </a:solidFill>
              </a:rPr>
              <a:t>AI news anchors deliver bulletins, while AI doubles of our anchors keep coverage running when they are out reporting from the field.</a:t>
            </a:r>
            <a:endParaRPr lang="en-US" sz="1250" dirty="0"/>
          </a:p>
        </p:txBody>
      </p:sp>
      <p:sp>
        <p:nvSpPr>
          <p:cNvPr id="18" name="Stage 2 disc"/>
          <p:cNvSpPr/>
          <p:nvPr/>
        </p:nvSpPr>
        <p:spPr>
          <a:xfrm>
            <a:off x="3390824" y="2240280"/>
            <a:ext cx="658368" cy="658368"/>
          </a:xfrm>
          <a:prstGeom prst="ellipse">
            <a:avLst/>
          </a:prstGeom>
          <a:solidFill>
            <a:srgbClr val="E31E24"/>
          </a:solidFill>
          <a:ln w="9525">
            <a:solidFill>
              <a:srgbClr val="E31E24"/>
            </a:solidFill>
            <a:prstDash val="solid"/>
          </a:ln>
        </p:spPr>
      </p:sp>
      <p:pic>
        <p:nvPicPr>
          <p:cNvPr id="19" name="Stage 2 icon" descr="preencoded.png">    </p:cNvPr>
          <p:cNvPicPr>
            <a:picLocks noChangeAspect="1"/>
          </p:cNvPicPr>
          <p:nvPr/>
        </p:nvPicPr>
        <p:blipFill>
          <a:blip r:embed="rId2"/>
          <a:stretch>
            <a:fillRect/>
          </a:stretch>
        </p:blipFill>
        <p:spPr>
          <a:xfrm>
            <a:off x="3568583" y="2418039"/>
            <a:ext cx="302849" cy="302849"/>
          </a:xfrm>
          <a:prstGeom prst="rect">
            <a:avLst/>
          </a:prstGeom>
        </p:spPr>
      </p:pic>
      <p:sp>
        <p:nvSpPr>
          <p:cNvPr id="20" name="Text 16"/>
          <p:cNvSpPr txBox="1"/>
          <p:nvPr/>
        </p:nvSpPr>
        <p:spPr>
          <a:xfrm>
            <a:off x="3390824" y="3154680"/>
            <a:ext cx="2567864" cy="237744"/>
          </a:xfrm>
          <a:prstGeom prst="rect">
            <a:avLst/>
          </a:prstGeom>
          <a:noFill/>
          <a:ln/>
        </p:spPr>
        <p:txBody>
          <a:bodyPr wrap="square" lIns="0" tIns="0" rIns="0" bIns="0" rtlCol="0" anchor="ctr"/>
          <a:lstStyle/>
          <a:p>
            <a:pPr indent="0" marL="0">
              <a:buNone/>
            </a:pPr>
            <a:r>
              <a:rPr lang="en-US" sz="1000" b="1" spc="160" kern="0" dirty="0">
                <a:solidFill>
                  <a:schemeClr val="accent1"/>
                </a:solidFill>
              </a:rPr>
              <a:t>CREATE</a:t>
            </a:r>
            <a:endParaRPr lang="en-US" sz="1000" dirty="0"/>
          </a:p>
        </p:txBody>
      </p:sp>
      <p:sp>
        <p:nvSpPr>
          <p:cNvPr id="21" name="Text 17"/>
          <p:cNvSpPr txBox="1"/>
          <p:nvPr/>
        </p:nvSpPr>
        <p:spPr>
          <a:xfrm>
            <a:off x="3390824" y="3429000"/>
            <a:ext cx="2567864" cy="658368"/>
          </a:xfrm>
          <a:prstGeom prst="rect">
            <a:avLst/>
          </a:prstGeom>
          <a:noFill/>
          <a:ln/>
        </p:spPr>
        <p:txBody>
          <a:bodyPr wrap="square" lIns="0" tIns="0" rIns="0" bIns="0" rtlCol="0" anchor="t"/>
          <a:lstStyle/>
          <a:p>
            <a:pPr indent="0" marL="0">
              <a:buNone/>
            </a:pPr>
            <a:r>
              <a:rPr lang="en-US" sz="1700" b="1" dirty="0">
                <a:solidFill>
                  <a:schemeClr val="bg1"/>
                </a:solidFill>
              </a:rPr>
              <a:t>AI Audio-Visual</a:t>
            </a:r>
            <a:endParaRPr lang="en-US" sz="1700" dirty="0"/>
          </a:p>
          <a:p>
            <a:pPr indent="0" marL="0">
              <a:buNone/>
            </a:pPr>
            <a:r>
              <a:rPr lang="en-US" sz="1700" b="1" dirty="0">
                <a:solidFill>
                  <a:schemeClr val="bg1"/>
                </a:solidFill>
              </a:rPr>
              <a:t>Production</a:t>
            </a:r>
            <a:endParaRPr lang="en-US" sz="1700" dirty="0"/>
          </a:p>
        </p:txBody>
      </p:sp>
      <p:sp>
        <p:nvSpPr>
          <p:cNvPr id="22" name="Text 18"/>
          <p:cNvSpPr txBox="1"/>
          <p:nvPr/>
        </p:nvSpPr>
        <p:spPr>
          <a:xfrm>
            <a:off x="3390824" y="4160520"/>
            <a:ext cx="2476424" cy="1234440"/>
          </a:xfrm>
          <a:prstGeom prst="rect">
            <a:avLst/>
          </a:prstGeom>
          <a:noFill/>
          <a:ln/>
        </p:spPr>
        <p:txBody>
          <a:bodyPr wrap="square" lIns="0" tIns="0" rIns="0" bIns="0" rtlCol="0" anchor="t"/>
          <a:lstStyle/>
          <a:p>
            <a:pPr indent="0" marL="0">
              <a:lnSpc>
                <a:spcPct val="108000"/>
              </a:lnSpc>
              <a:buNone/>
            </a:pPr>
            <a:r>
              <a:rPr lang="en-US" sz="1250" dirty="0">
                <a:solidFill>
                  <a:schemeClr val="accent2"/>
                </a:solidFill>
              </a:rPr>
              <a:t>Voiceovers, images, videos and infographics for digital, TV and events, plus AI magazine covers, illustrations and fashion shows.</a:t>
            </a:r>
            <a:endParaRPr lang="en-US" sz="1250" dirty="0"/>
          </a:p>
        </p:txBody>
      </p:sp>
      <p:sp>
        <p:nvSpPr>
          <p:cNvPr id="23" name="Stage 3 disc"/>
          <p:cNvSpPr/>
          <p:nvPr/>
        </p:nvSpPr>
        <p:spPr>
          <a:xfrm>
            <a:off x="6233008" y="2240280"/>
            <a:ext cx="658368" cy="658368"/>
          </a:xfrm>
          <a:prstGeom prst="ellipse">
            <a:avLst/>
          </a:prstGeom>
          <a:solidFill>
            <a:srgbClr val="E31E24"/>
          </a:solidFill>
          <a:ln w="9525">
            <a:solidFill>
              <a:srgbClr val="E31E24"/>
            </a:solidFill>
            <a:prstDash val="solid"/>
          </a:ln>
        </p:spPr>
      </p:sp>
      <p:pic>
        <p:nvPicPr>
          <p:cNvPr id="24" name="Stage 3 icon" descr="preencoded.png">    </p:cNvPr>
          <p:cNvPicPr>
            <a:picLocks noChangeAspect="1"/>
          </p:cNvPicPr>
          <p:nvPr/>
        </p:nvPicPr>
        <p:blipFill>
          <a:blip r:embed="rId3"/>
          <a:stretch>
            <a:fillRect/>
          </a:stretch>
        </p:blipFill>
        <p:spPr>
          <a:xfrm>
            <a:off x="6410767" y="2418039"/>
            <a:ext cx="302849" cy="302849"/>
          </a:xfrm>
          <a:prstGeom prst="rect">
            <a:avLst/>
          </a:prstGeom>
        </p:spPr>
      </p:pic>
      <p:sp>
        <p:nvSpPr>
          <p:cNvPr id="25" name="Text 20"/>
          <p:cNvSpPr txBox="1"/>
          <p:nvPr/>
        </p:nvSpPr>
        <p:spPr>
          <a:xfrm>
            <a:off x="6233008" y="3154680"/>
            <a:ext cx="2567864" cy="237744"/>
          </a:xfrm>
          <a:prstGeom prst="rect">
            <a:avLst/>
          </a:prstGeom>
          <a:noFill/>
          <a:ln/>
        </p:spPr>
        <p:txBody>
          <a:bodyPr wrap="square" lIns="0" tIns="0" rIns="0" bIns="0" rtlCol="0" anchor="ctr"/>
          <a:lstStyle/>
          <a:p>
            <a:pPr indent="0" marL="0">
              <a:buNone/>
            </a:pPr>
            <a:r>
              <a:rPr lang="en-US" sz="1000" b="1" spc="160" kern="0" dirty="0">
                <a:solidFill>
                  <a:schemeClr val="accent1"/>
                </a:solidFill>
              </a:rPr>
              <a:t>PUBLISH</a:t>
            </a:r>
            <a:endParaRPr lang="en-US" sz="1000" dirty="0"/>
          </a:p>
        </p:txBody>
      </p:sp>
      <p:sp>
        <p:nvSpPr>
          <p:cNvPr id="26" name="Text 21"/>
          <p:cNvSpPr txBox="1"/>
          <p:nvPr/>
        </p:nvSpPr>
        <p:spPr>
          <a:xfrm>
            <a:off x="6233008" y="3429000"/>
            <a:ext cx="2567864" cy="658368"/>
          </a:xfrm>
          <a:prstGeom prst="rect">
            <a:avLst/>
          </a:prstGeom>
          <a:noFill/>
          <a:ln/>
        </p:spPr>
        <p:txBody>
          <a:bodyPr wrap="square" lIns="0" tIns="0" rIns="0" bIns="0" rtlCol="0" anchor="t"/>
          <a:lstStyle/>
          <a:p>
            <a:pPr indent="0" marL="0">
              <a:buNone/>
            </a:pPr>
            <a:r>
              <a:rPr lang="en-US" sz="1700" b="1" dirty="0">
                <a:solidFill>
                  <a:schemeClr val="bg1"/>
                </a:solidFill>
              </a:rPr>
              <a:t>AI-Enabled</a:t>
            </a:r>
            <a:endParaRPr lang="en-US" sz="1700" dirty="0"/>
          </a:p>
          <a:p>
            <a:pPr indent="0" marL="0">
              <a:buNone/>
            </a:pPr>
            <a:r>
              <a:rPr lang="en-US" sz="1700" b="1" dirty="0">
                <a:solidFill>
                  <a:schemeClr val="bg1"/>
                </a:solidFill>
              </a:rPr>
              <a:t>Content System</a:t>
            </a:r>
            <a:endParaRPr lang="en-US" sz="1700" dirty="0"/>
          </a:p>
        </p:txBody>
      </p:sp>
      <p:sp>
        <p:nvSpPr>
          <p:cNvPr id="27" name="Text 22"/>
          <p:cNvSpPr txBox="1"/>
          <p:nvPr/>
        </p:nvSpPr>
        <p:spPr>
          <a:xfrm>
            <a:off x="6233008" y="4160520"/>
            <a:ext cx="2476424" cy="1234440"/>
          </a:xfrm>
          <a:prstGeom prst="rect">
            <a:avLst/>
          </a:prstGeom>
          <a:noFill/>
          <a:ln/>
        </p:spPr>
        <p:txBody>
          <a:bodyPr wrap="square" lIns="0" tIns="0" rIns="0" bIns="0" rtlCol="0" anchor="t"/>
          <a:lstStyle/>
          <a:p>
            <a:pPr indent="0" marL="0">
              <a:lnSpc>
                <a:spcPct val="108000"/>
              </a:lnSpc>
              <a:buNone/>
            </a:pPr>
            <a:r>
              <a:rPr lang="en-US" sz="1250" dirty="0">
                <a:solidFill>
                  <a:schemeClr val="accent2"/>
                </a:solidFill>
              </a:rPr>
              <a:t>A smarter content management system that speeds up how stories are created, adapted and delivered across platforms.</a:t>
            </a:r>
            <a:endParaRPr lang="en-US" sz="1250" dirty="0"/>
          </a:p>
        </p:txBody>
      </p:sp>
      <p:sp>
        <p:nvSpPr>
          <p:cNvPr id="28" name="Stage 4 disc"/>
          <p:cNvSpPr/>
          <p:nvPr/>
        </p:nvSpPr>
        <p:spPr>
          <a:xfrm>
            <a:off x="9075191" y="2240280"/>
            <a:ext cx="658368" cy="658368"/>
          </a:xfrm>
          <a:prstGeom prst="ellipse">
            <a:avLst/>
          </a:prstGeom>
          <a:solidFill>
            <a:srgbClr val="E31E24"/>
          </a:solidFill>
          <a:ln w="9525">
            <a:solidFill>
              <a:srgbClr val="E31E24"/>
            </a:solidFill>
            <a:prstDash val="solid"/>
          </a:ln>
        </p:spPr>
      </p:sp>
      <p:pic>
        <p:nvPicPr>
          <p:cNvPr id="29" name="Stage 4 icon" descr="preencoded.png">    </p:cNvPr>
          <p:cNvPicPr>
            <a:picLocks noChangeAspect="1"/>
          </p:cNvPicPr>
          <p:nvPr/>
        </p:nvPicPr>
        <p:blipFill>
          <a:blip r:embed="rId4"/>
          <a:stretch>
            <a:fillRect/>
          </a:stretch>
        </p:blipFill>
        <p:spPr>
          <a:xfrm>
            <a:off x="9252951" y="2418039"/>
            <a:ext cx="302849" cy="302849"/>
          </a:xfrm>
          <a:prstGeom prst="rect">
            <a:avLst/>
          </a:prstGeom>
        </p:spPr>
      </p:pic>
      <p:sp>
        <p:nvSpPr>
          <p:cNvPr id="30" name="Text 24"/>
          <p:cNvSpPr txBox="1"/>
          <p:nvPr/>
        </p:nvSpPr>
        <p:spPr>
          <a:xfrm>
            <a:off x="9075191" y="3154680"/>
            <a:ext cx="2567864" cy="237744"/>
          </a:xfrm>
          <a:prstGeom prst="rect">
            <a:avLst/>
          </a:prstGeom>
          <a:noFill/>
          <a:ln/>
        </p:spPr>
        <p:txBody>
          <a:bodyPr wrap="square" lIns="0" tIns="0" rIns="0" bIns="0" rtlCol="0" anchor="ctr"/>
          <a:lstStyle/>
          <a:p>
            <a:pPr indent="0" marL="0">
              <a:buNone/>
            </a:pPr>
            <a:r>
              <a:rPr lang="en-US" sz="1000" b="1" spc="160" kern="0" dirty="0">
                <a:solidFill>
                  <a:schemeClr val="accent1"/>
                </a:solidFill>
              </a:rPr>
              <a:t>AUTOMATE</a:t>
            </a:r>
            <a:endParaRPr lang="en-US" sz="1000" dirty="0"/>
          </a:p>
        </p:txBody>
      </p:sp>
      <p:sp>
        <p:nvSpPr>
          <p:cNvPr id="31" name="Text 25"/>
          <p:cNvSpPr txBox="1"/>
          <p:nvPr/>
        </p:nvSpPr>
        <p:spPr>
          <a:xfrm>
            <a:off x="9075191" y="3429000"/>
            <a:ext cx="2567864" cy="658368"/>
          </a:xfrm>
          <a:prstGeom prst="rect">
            <a:avLst/>
          </a:prstGeom>
          <a:noFill/>
          <a:ln/>
        </p:spPr>
        <p:txBody>
          <a:bodyPr wrap="square" lIns="0" tIns="0" rIns="0" bIns="0" rtlCol="0" anchor="t"/>
          <a:lstStyle/>
          <a:p>
            <a:pPr indent="0" marL="0">
              <a:buNone/>
            </a:pPr>
            <a:r>
              <a:rPr lang="en-US" sz="1700" b="1" dirty="0">
                <a:solidFill>
                  <a:schemeClr val="bg1"/>
                </a:solidFill>
              </a:rPr>
              <a:t>Daily Newsroom</a:t>
            </a:r>
            <a:endParaRPr lang="en-US" sz="1700" dirty="0"/>
          </a:p>
          <a:p>
            <a:pPr indent="0" marL="0">
              <a:buNone/>
            </a:pPr>
            <a:r>
              <a:rPr lang="en-US" sz="1700" b="1" dirty="0">
                <a:solidFill>
                  <a:schemeClr val="bg1"/>
                </a:solidFill>
              </a:rPr>
              <a:t>Efficiency</a:t>
            </a:r>
            <a:endParaRPr lang="en-US" sz="1700" dirty="0"/>
          </a:p>
        </p:txBody>
      </p:sp>
      <p:sp>
        <p:nvSpPr>
          <p:cNvPr id="32" name="Text 26"/>
          <p:cNvSpPr txBox="1"/>
          <p:nvPr/>
        </p:nvSpPr>
        <p:spPr>
          <a:xfrm>
            <a:off x="9075191" y="4160520"/>
            <a:ext cx="2476424" cy="1234440"/>
          </a:xfrm>
          <a:prstGeom prst="rect">
            <a:avLst/>
          </a:prstGeom>
          <a:noFill/>
          <a:ln/>
        </p:spPr>
        <p:txBody>
          <a:bodyPr wrap="square" lIns="0" tIns="0" rIns="0" bIns="0" rtlCol="0" anchor="t"/>
          <a:lstStyle/>
          <a:p>
            <a:pPr indent="0" marL="0">
              <a:lnSpc>
                <a:spcPct val="108000"/>
              </a:lnSpc>
              <a:buNone/>
            </a:pPr>
            <a:r>
              <a:rPr lang="en-US" sz="1250" dirty="0">
                <a:solidFill>
                  <a:schemeClr val="accent2"/>
                </a:solidFill>
              </a:rPr>
              <a:t>Weather, air-quality indices, fuel prices and commodity rates are handled by AI, so these updates run without manual effort.</a:t>
            </a:r>
            <a:endParaRPr lang="en-US" sz="1250" dirty="0"/>
          </a:p>
        </p:txBody>
      </p:sp>
      <p:sp>
        <p:nvSpPr>
          <p:cNvPr id="33" name="Takeaway band"/>
          <p:cNvSpPr/>
          <p:nvPr/>
        </p:nvSpPr>
        <p:spPr>
          <a:xfrm>
            <a:off x="548640" y="5486400"/>
            <a:ext cx="11094415" cy="822960"/>
          </a:xfrm>
          <a:prstGeom prst="rect">
            <a:avLst/>
          </a:prstGeom>
          <a:solidFill>
            <a:srgbClr val="16161C">
              <a:alpha val="88000"/>
            </a:srgbClr>
          </a:solidFill>
          <a:ln w="9525">
            <a:solidFill>
              <a:srgbClr val="2C2C36"/>
            </a:solidFill>
            <a:prstDash val="solid"/>
          </a:ln>
        </p:spPr>
      </p:sp>
      <p:pic>
        <p:nvPicPr>
          <p:cNvPr id="34" name="Takeaway icon" descr="preencoded.png">    </p:cNvPr>
          <p:cNvPicPr>
            <a:picLocks noChangeAspect="1"/>
          </p:cNvPicPr>
          <p:nvPr/>
        </p:nvPicPr>
        <p:blipFill>
          <a:blip r:embed="rId5"/>
          <a:stretch>
            <a:fillRect/>
          </a:stretch>
        </p:blipFill>
        <p:spPr>
          <a:xfrm>
            <a:off x="822960" y="5696712"/>
            <a:ext cx="402336" cy="402336"/>
          </a:xfrm>
          <a:prstGeom prst="rect">
            <a:avLst/>
          </a:prstGeom>
        </p:spPr>
      </p:pic>
      <p:sp>
        <p:nvSpPr>
          <p:cNvPr id="35" name="Text 28"/>
          <p:cNvSpPr txBox="1"/>
          <p:nvPr/>
        </p:nvSpPr>
        <p:spPr>
          <a:xfrm>
            <a:off x="1417320" y="5532120"/>
            <a:ext cx="9966960" cy="731520"/>
          </a:xfrm>
          <a:prstGeom prst="rect">
            <a:avLst/>
          </a:prstGeom>
          <a:noFill/>
          <a:ln/>
        </p:spPr>
        <p:txBody>
          <a:bodyPr wrap="square" lIns="0" tIns="0" rIns="0" bIns="0" rtlCol="0" anchor="ctr"/>
          <a:lstStyle/>
          <a:p>
            <a:pPr indent="0" marL="0">
              <a:buNone/>
            </a:pPr>
            <a:r>
              <a:rPr lang="en-US" sz="1400" b="1" dirty="0">
                <a:solidFill>
                  <a:schemeClr val="bg1"/>
                </a:solidFill>
              </a:rPr>
              <a:t>AI takes on the repetitive and mechanical. </a:t>
            </a:r>
            <a:pPr indent="0" marL="0">
              <a:buNone/>
            </a:pPr>
            <a:r>
              <a:rPr lang="en-US" sz="1400" dirty="0">
                <a:solidFill>
                  <a:schemeClr val="accent6"/>
                </a:solidFill>
              </a:rPr>
              <a:t>Our editors and journalists focus on what demands context, judgment and human insight.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body" hasCustomPrompt="1"/>
          </p:nvPr>
        </p:nvSpPr>
        <p:spPr>
          <a:xfrm>
            <a:off x="548640" y="384048"/>
            <a:ext cx="7315200" cy="274320"/>
          </a:xfrm>
          <a:prstGeom prst="rect">
            <a:avLst/>
          </a:prstGeom>
          <a:noFill/>
          <a:ln/>
        </p:spPr>
        <p:txBody>
          <a:bodyPr wrap="square" lIns="0" tIns="0" rIns="0" bIns="0" rtlCol="0"/>
          <a:lstStyle/>
          <a:p>
            <a:pPr algn="l" indent="0" marL="0">
              <a:buNone/>
            </a:pPr>
            <a:r>
              <a:rPr lang="en-US" sz="1100" b="1" spc="160" kern="0" dirty="0">
                <a:solidFill>
                  <a:schemeClr val="accent1"/>
                </a:solidFill>
              </a:rPr>
              <a:t>PIONEERING AI STORYTELLING</a:t>
            </a:r>
            <a:endParaRPr lang="en-US" sz="1100" dirty="0"/>
          </a:p>
        </p:txBody>
      </p:sp>
      <p:sp>
        <p:nvSpPr>
          <p:cNvPr id="3" name="Text 0"/>
          <p:cNvSpPr/>
          <p:nvPr>
            <p:ph idx="101" type="title" hasCustomPrompt="1"/>
          </p:nvPr>
        </p:nvSpPr>
        <p:spPr>
          <a:xfrm>
            <a:off x="548640" y="640080"/>
            <a:ext cx="9875520" cy="777240"/>
          </a:xfrm>
          <a:prstGeom prst="rect">
            <a:avLst/>
          </a:prstGeom>
          <a:noFill/>
          <a:ln/>
        </p:spPr>
        <p:txBody>
          <a:bodyPr wrap="square" lIns="0" tIns="0" rIns="0" bIns="0" rtlCol="0" anchor="t"/>
          <a:lstStyle/>
          <a:p>
            <a:pPr algn="l" indent="0" marL="0">
              <a:buNone/>
            </a:pPr>
            <a:r>
              <a:rPr lang="en-US" sz="3400" b="1" dirty="0">
                <a:solidFill>
                  <a:schemeClr val="bg1"/>
                </a:solidFill>
              </a:rPr>
              <a:t>Stories only AI could tell</a:t>
            </a:r>
            <a:endParaRPr lang="en-US" sz="3400" dirty="0"/>
          </a:p>
        </p:txBody>
      </p:sp>
      <p:sp>
        <p:nvSpPr>
          <p:cNvPr id="4" name="Case 1"/>
          <p:cNvSpPr/>
          <p:nvPr/>
        </p:nvSpPr>
        <p:spPr>
          <a:xfrm>
            <a:off x="548640" y="1600200"/>
            <a:ext cx="3611880" cy="4709160"/>
          </a:xfrm>
          <a:prstGeom prst="rect">
            <a:avLst/>
          </a:prstGeom>
          <a:solidFill>
            <a:srgbClr val="16161C">
              <a:alpha val="88000"/>
            </a:srgbClr>
          </a:solidFill>
          <a:ln w="9525">
            <a:solidFill>
              <a:srgbClr val="2C2C36"/>
            </a:solidFill>
            <a:prstDash val="solid"/>
          </a:ln>
        </p:spPr>
      </p:sp>
      <p:pic>
        <p:nvPicPr>
          <p:cNvPr id="5" name="Case 1 visual" descr="/tmp/claude-0/-home-user-nayak/e234e072-51fc-5a89-bcc1-7181d2d8a173/scratchpad/build/assets/radar_card.jpg">    </p:cNvPr>
          <p:cNvPicPr>
            <a:picLocks noChangeAspect="1"/>
          </p:cNvPicPr>
          <p:nvPr/>
        </p:nvPicPr>
        <p:blipFill>
          <a:blip r:embed="rId1"/>
          <a:stretch>
            <a:fillRect/>
          </a:stretch>
        </p:blipFill>
        <p:spPr>
          <a:xfrm>
            <a:off x="548640" y="1600200"/>
            <a:ext cx="3611880" cy="2103120"/>
          </a:xfrm>
          <a:prstGeom prst="rect">
            <a:avLst/>
          </a:prstGeom>
        </p:spPr>
      </p:pic>
      <p:sp>
        <p:nvSpPr>
          <p:cNvPr id="6" name="Text 3"/>
          <p:cNvSpPr txBox="1"/>
          <p:nvPr/>
        </p:nvSpPr>
        <p:spPr>
          <a:xfrm>
            <a:off x="822960" y="3977640"/>
            <a:ext cx="3063240" cy="237744"/>
          </a:xfrm>
          <a:prstGeom prst="rect">
            <a:avLst/>
          </a:prstGeom>
          <a:noFill/>
          <a:ln/>
        </p:spPr>
        <p:txBody>
          <a:bodyPr wrap="square" lIns="0" tIns="0" rIns="0" bIns="0" rtlCol="0" anchor="ctr"/>
          <a:lstStyle/>
          <a:p>
            <a:pPr indent="0" marL="0">
              <a:buNone/>
            </a:pPr>
            <a:r>
              <a:rPr lang="en-US" sz="900" b="1" spc="100" kern="0" dirty="0">
                <a:solidFill>
                  <a:schemeClr val="accent1"/>
                </a:solidFill>
              </a:rPr>
              <a:t>MAY 2025  ·  A FIRST IN INDIAN NEWS</a:t>
            </a:r>
            <a:endParaRPr lang="en-US" sz="900" dirty="0"/>
          </a:p>
        </p:txBody>
      </p:sp>
      <p:sp>
        <p:nvSpPr>
          <p:cNvPr id="7" name="Text 4"/>
          <p:cNvSpPr txBox="1"/>
          <p:nvPr/>
        </p:nvSpPr>
        <p:spPr>
          <a:xfrm>
            <a:off x="822960" y="4297680"/>
            <a:ext cx="3063240" cy="365760"/>
          </a:xfrm>
          <a:prstGeom prst="rect">
            <a:avLst/>
          </a:prstGeom>
          <a:noFill/>
          <a:ln/>
        </p:spPr>
        <p:txBody>
          <a:bodyPr wrap="square" lIns="0" tIns="0" rIns="0" bIns="0" rtlCol="0" anchor="t"/>
          <a:lstStyle/>
          <a:p>
            <a:pPr indent="0" marL="0">
              <a:buNone/>
            </a:pPr>
            <a:r>
              <a:rPr lang="en-US" sz="1600" b="1" dirty="0">
                <a:solidFill>
                  <a:schemeClr val="bg1"/>
                </a:solidFill>
              </a:rPr>
              <a:t>Operation Sindoor, recreated</a:t>
            </a:r>
            <a:endParaRPr lang="en-US" sz="1600" dirty="0"/>
          </a:p>
        </p:txBody>
      </p:sp>
      <p:sp>
        <p:nvSpPr>
          <p:cNvPr id="8" name="Text 5"/>
          <p:cNvSpPr txBox="1"/>
          <p:nvPr/>
        </p:nvSpPr>
        <p:spPr>
          <a:xfrm>
            <a:off x="822960" y="4754880"/>
            <a:ext cx="3063240" cy="1417320"/>
          </a:xfrm>
          <a:prstGeom prst="rect">
            <a:avLst/>
          </a:prstGeom>
          <a:noFill/>
          <a:ln/>
        </p:spPr>
        <p:txBody>
          <a:bodyPr wrap="square" lIns="0" tIns="0" rIns="0" bIns="0" rtlCol="0" anchor="t"/>
          <a:lstStyle/>
          <a:p>
            <a:pPr indent="0" marL="0">
              <a:lnSpc>
                <a:spcPct val="108000"/>
              </a:lnSpc>
              <a:buNone/>
            </a:pPr>
            <a:r>
              <a:rPr lang="en-US" sz="1250" dirty="0">
                <a:solidFill>
                  <a:schemeClr val="accent2"/>
                </a:solidFill>
              </a:rPr>
              <a:t>No live footage existed of the covert mission. We produced and broadcast a fully AI-made film in-house, rebuilt from public information to accurately depict the terror hubs neutralised.</a:t>
            </a:r>
            <a:endParaRPr lang="en-US" sz="1250" dirty="0"/>
          </a:p>
        </p:txBody>
      </p:sp>
      <p:sp>
        <p:nvSpPr>
          <p:cNvPr id="9" name="Case 2"/>
          <p:cNvSpPr/>
          <p:nvPr/>
        </p:nvSpPr>
        <p:spPr>
          <a:xfrm>
            <a:off x="4389120" y="1600200"/>
            <a:ext cx="3611880" cy="4709160"/>
          </a:xfrm>
          <a:prstGeom prst="rect">
            <a:avLst/>
          </a:prstGeom>
          <a:solidFill>
            <a:srgbClr val="16161C">
              <a:alpha val="88000"/>
            </a:srgbClr>
          </a:solidFill>
          <a:ln w="9525">
            <a:solidFill>
              <a:srgbClr val="2C2C36"/>
            </a:solidFill>
            <a:prstDash val="solid"/>
          </a:ln>
        </p:spPr>
      </p:sp>
      <p:pic>
        <p:nvPicPr>
          <p:cNvPr id="10" name="Case 2 visual" descr="/tmp/claude-0/-home-user-nayak/e234e072-51fc-5a89-bcc1-7181d2d8a173/scratchpad/build/assets/waveform_card.jpg">    </p:cNvPr>
          <p:cNvPicPr>
            <a:picLocks noChangeAspect="1"/>
          </p:cNvPicPr>
          <p:nvPr/>
        </p:nvPicPr>
        <p:blipFill>
          <a:blip r:embed="rId2"/>
          <a:stretch>
            <a:fillRect/>
          </a:stretch>
        </p:blipFill>
        <p:spPr>
          <a:xfrm>
            <a:off x="4389120" y="1600200"/>
            <a:ext cx="3611880" cy="2103120"/>
          </a:xfrm>
          <a:prstGeom prst="rect">
            <a:avLst/>
          </a:prstGeom>
        </p:spPr>
      </p:pic>
      <p:sp>
        <p:nvSpPr>
          <p:cNvPr id="11" name="Text 7"/>
          <p:cNvSpPr txBox="1"/>
          <p:nvPr/>
        </p:nvSpPr>
        <p:spPr>
          <a:xfrm>
            <a:off x="4663440" y="3977640"/>
            <a:ext cx="3063240" cy="237744"/>
          </a:xfrm>
          <a:prstGeom prst="rect">
            <a:avLst/>
          </a:prstGeom>
          <a:noFill/>
          <a:ln/>
        </p:spPr>
        <p:txBody>
          <a:bodyPr wrap="square" lIns="0" tIns="0" rIns="0" bIns="0" rtlCol="0" anchor="ctr"/>
          <a:lstStyle/>
          <a:p>
            <a:pPr indent="0" marL="0">
              <a:buNone/>
            </a:pPr>
            <a:r>
              <a:rPr lang="en-US" sz="900" b="1" spc="100" kern="0" dirty="0">
                <a:solidFill>
                  <a:schemeClr val="accent1"/>
                </a:solidFill>
              </a:rPr>
              <a:t>TRADITION MEETS TECHNOLOGY</a:t>
            </a:r>
            <a:endParaRPr lang="en-US" sz="900" dirty="0"/>
          </a:p>
        </p:txBody>
      </p:sp>
      <p:sp>
        <p:nvSpPr>
          <p:cNvPr id="12" name="Text 8"/>
          <p:cNvSpPr txBox="1"/>
          <p:nvPr/>
        </p:nvSpPr>
        <p:spPr>
          <a:xfrm>
            <a:off x="4663440" y="4297680"/>
            <a:ext cx="3063240" cy="365760"/>
          </a:xfrm>
          <a:prstGeom prst="rect">
            <a:avLst/>
          </a:prstGeom>
          <a:noFill/>
          <a:ln/>
        </p:spPr>
        <p:txBody>
          <a:bodyPr wrap="square" lIns="0" tIns="0" rIns="0" bIns="0" rtlCol="0" anchor="t"/>
          <a:lstStyle/>
          <a:p>
            <a:pPr indent="0" marL="0">
              <a:buNone/>
            </a:pPr>
            <a:r>
              <a:rPr lang="en-US" sz="1600" b="1" dirty="0">
                <a:solidFill>
                  <a:schemeClr val="bg1"/>
                </a:solidFill>
              </a:rPr>
              <a:t>National anthem, reimagined</a:t>
            </a:r>
            <a:endParaRPr lang="en-US" sz="1600" dirty="0"/>
          </a:p>
        </p:txBody>
      </p:sp>
      <p:sp>
        <p:nvSpPr>
          <p:cNvPr id="13" name="Text 9"/>
          <p:cNvSpPr txBox="1"/>
          <p:nvPr/>
        </p:nvSpPr>
        <p:spPr>
          <a:xfrm>
            <a:off x="4663440" y="4754880"/>
            <a:ext cx="3063240" cy="1417320"/>
          </a:xfrm>
          <a:prstGeom prst="rect">
            <a:avLst/>
          </a:prstGeom>
          <a:noFill/>
          <a:ln/>
        </p:spPr>
        <p:txBody>
          <a:bodyPr wrap="square" lIns="0" tIns="0" rIns="0" bIns="0" rtlCol="0" anchor="t"/>
          <a:lstStyle/>
          <a:p>
            <a:pPr indent="0" marL="0">
              <a:lnSpc>
                <a:spcPct val="108000"/>
              </a:lnSpc>
              <a:buNone/>
            </a:pPr>
            <a:r>
              <a:rPr lang="en-US" sz="1250" dirty="0">
                <a:solidFill>
                  <a:schemeClr val="accent2"/>
                </a:solidFill>
              </a:rPr>
              <a:t>India's freedom fighters, authentically recreated in appearance and voice to honour their legacy and rekindle patriotism through immersive technology.</a:t>
            </a:r>
            <a:endParaRPr lang="en-US" sz="1250" dirty="0"/>
          </a:p>
        </p:txBody>
      </p:sp>
      <p:sp>
        <p:nvSpPr>
          <p:cNvPr id="14" name="Text 10"/>
          <p:cNvSpPr txBox="1"/>
          <p:nvPr/>
        </p:nvSpPr>
        <p:spPr>
          <a:xfrm>
            <a:off x="8366760" y="1600200"/>
            <a:ext cx="3276295" cy="256032"/>
          </a:xfrm>
          <a:prstGeom prst="rect">
            <a:avLst/>
          </a:prstGeom>
          <a:noFill/>
          <a:ln/>
        </p:spPr>
        <p:txBody>
          <a:bodyPr wrap="square" lIns="0" tIns="0" rIns="0" bIns="0" rtlCol="0" anchor="ctr"/>
          <a:lstStyle/>
          <a:p>
            <a:pPr indent="0" marL="0">
              <a:buNone/>
            </a:pPr>
            <a:r>
              <a:rPr lang="en-US" sz="1000" b="1" spc="160" kern="0" dirty="0">
                <a:solidFill>
                  <a:schemeClr val="accent1"/>
                </a:solidFill>
              </a:rPr>
              <a:t>OUR COMMITMENT</a:t>
            </a:r>
            <a:endParaRPr lang="en-US" sz="1000" dirty="0"/>
          </a:p>
        </p:txBody>
      </p:sp>
      <p:sp>
        <p:nvSpPr>
          <p:cNvPr id="15" name="Text 11"/>
          <p:cNvSpPr txBox="1"/>
          <p:nvPr/>
        </p:nvSpPr>
        <p:spPr>
          <a:xfrm>
            <a:off x="8366760" y="1920240"/>
            <a:ext cx="3276295" cy="1188720"/>
          </a:xfrm>
          <a:prstGeom prst="rect">
            <a:avLst/>
          </a:prstGeom>
          <a:noFill/>
          <a:ln/>
        </p:spPr>
        <p:txBody>
          <a:bodyPr wrap="square" lIns="0" tIns="0" rIns="0" bIns="0" rtlCol="0" anchor="t"/>
          <a:lstStyle/>
          <a:p>
            <a:pPr indent="0" marL="0">
              <a:lnSpc>
                <a:spcPct val="98000"/>
              </a:lnSpc>
              <a:buNone/>
            </a:pPr>
            <a:r>
              <a:rPr lang="en-US" sz="2600" b="1" dirty="0">
                <a:solidFill>
                  <a:schemeClr val="bg1"/>
                </a:solidFill>
              </a:rPr>
              <a:t>Truth and credibility at the heart of it.</a:t>
            </a:r>
            <a:endParaRPr lang="en-US" sz="2600" dirty="0"/>
          </a:p>
        </p:txBody>
      </p:sp>
      <p:sp>
        <p:nvSpPr>
          <p:cNvPr id="16" name="Text 12"/>
          <p:cNvSpPr txBox="1"/>
          <p:nvPr/>
        </p:nvSpPr>
        <p:spPr>
          <a:xfrm>
            <a:off x="8366760" y="3063240"/>
            <a:ext cx="3276295" cy="1280160"/>
          </a:xfrm>
          <a:prstGeom prst="rect">
            <a:avLst/>
          </a:prstGeom>
          <a:noFill/>
          <a:ln/>
        </p:spPr>
        <p:txBody>
          <a:bodyPr wrap="square" lIns="0" tIns="0" rIns="0" bIns="0" rtlCol="0" anchor="t"/>
          <a:lstStyle/>
          <a:p>
            <a:pPr indent="0" marL="0">
              <a:lnSpc>
                <a:spcPct val="108000"/>
              </a:lnSpc>
              <a:buNone/>
            </a:pPr>
            <a:r>
              <a:rPr lang="en-US" sz="1300" dirty="0">
                <a:solidFill>
                  <a:schemeClr val="accent6"/>
                </a:solidFill>
              </a:rPr>
              <a:t>This is only a sneak peek. Join us as we explore the next era of creativity, breaking barriers and reshaping how news is produced, delivered and embraced.</a:t>
            </a:r>
            <a:endParaRPr lang="en-US" sz="1300" dirty="0"/>
          </a:p>
        </p:txBody>
      </p:sp>
      <p:sp>
        <p:nvSpPr>
          <p:cNvPr id="17" name="Big 50"/>
          <p:cNvSpPr txBox="1"/>
          <p:nvPr/>
        </p:nvSpPr>
        <p:spPr>
          <a:xfrm>
            <a:off x="8321040" y="4572000"/>
            <a:ext cx="1737360" cy="1051560"/>
          </a:xfrm>
          <a:prstGeom prst="rect">
            <a:avLst/>
          </a:prstGeom>
          <a:noFill/>
          <a:ln/>
        </p:spPr>
        <p:txBody>
          <a:bodyPr wrap="square" lIns="0" tIns="0" rIns="0" bIns="0" rtlCol="0" anchor="b"/>
          <a:lstStyle/>
          <a:p>
            <a:pPr indent="0" marL="0">
              <a:buNone/>
            </a:pPr>
            <a:r>
              <a:rPr lang="en-US" sz="8000" b="1" dirty="0">
                <a:solidFill>
                  <a:schemeClr val="accent1"/>
                </a:solidFill>
              </a:rPr>
              <a:t>50</a:t>
            </a:r>
            <a:endParaRPr lang="en-US" sz="8000" dirty="0"/>
          </a:p>
        </p:txBody>
      </p:sp>
      <p:sp>
        <p:nvSpPr>
          <p:cNvPr id="18" name="Text 14"/>
          <p:cNvSpPr txBox="1"/>
          <p:nvPr/>
        </p:nvSpPr>
        <p:spPr>
          <a:xfrm>
            <a:off x="8366760" y="5715000"/>
            <a:ext cx="3276295" cy="594360"/>
          </a:xfrm>
          <a:prstGeom prst="rect">
            <a:avLst/>
          </a:prstGeom>
          <a:noFill/>
          <a:ln/>
        </p:spPr>
        <p:txBody>
          <a:bodyPr wrap="square" lIns="0" tIns="0" rIns="0" bIns="0" rtlCol="0" anchor="t"/>
          <a:lstStyle/>
          <a:p>
            <a:pPr indent="0" marL="0">
              <a:buNone/>
            </a:pPr>
            <a:r>
              <a:rPr lang="en-US" sz="1400" dirty="0">
                <a:solidFill>
                  <a:schemeClr val="bg1"/>
                </a:solidFill>
              </a:rPr>
              <a:t>A 50-year legacy,</a:t>
            </a:r>
            <a:endParaRPr lang="en-US" sz="1400" dirty="0"/>
          </a:p>
          <a:p>
            <a:pPr indent="0" marL="0">
              <a:buNone/>
            </a:pPr>
            <a:r>
              <a:rPr lang="en-US" sz="1400" b="1" dirty="0">
                <a:solidFill>
                  <a:schemeClr val="accent4"/>
                </a:solidFill>
              </a:rPr>
              <a:t>gearing for the next 50.</a:t>
            </a:r>
            <a:endParaRPr lang="en-US" sz="1400" dirty="0"/>
          </a:p>
        </p:txBody>
      </p:sp>
    </p:spTree>
  </p:cSld>
  <p:clrMapOvr>
    <a:masterClrMapping/>
  </p:clrMapOvr>
</p:sld>
</file>

<file path=ppt/theme/theme1.xml><?xml version="1.0" encoding="utf-8"?>
<a:theme xmlns:a="http://schemas.openxmlformats.org/drawingml/2006/main" name="India Today AI">
  <a:themeElements>
    <a:clrScheme name="India Today AI">
      <a:dk1>
        <a:srgbClr val="0B0B0F"/>
      </a:dk1>
      <a:lt1>
        <a:srgbClr val="FFFFFF"/>
      </a:lt1>
      <a:dk2>
        <a:srgbClr val="16161C"/>
      </a:dk2>
      <a:lt2>
        <a:srgbClr val="F2F0EC"/>
      </a:lt2>
      <a:accent1>
        <a:srgbClr val="E31E24"/>
      </a:accent1>
      <a:accent2>
        <a:srgbClr val="A3A3AE"/>
      </a:accent2>
      <a:accent3>
        <a:srgbClr val="2C2C36"/>
      </a:accent3>
      <a:accent4>
        <a:srgbClr val="FF6B6F"/>
      </a:accent4>
      <a:accent5>
        <a:srgbClr val="6E6E7A"/>
      </a:accent5>
      <a:accent6>
        <a:srgbClr val="D6D6DD"/>
      </a:accent6>
      <a:hlink>
        <a:srgbClr val="FF6B6F"/>
      </a:hlink>
      <a:folHlink>
        <a:srgbClr val="A3A3AE"/>
      </a:folHlink>
    </a:clrScheme>
    <a:fontScheme name="India Today AI">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India Today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at India Today Group</dc:title>
  <dc:subject>PptxGenJS Presentation</dc:subject>
  <dc:creator>India Today Group</dc:creator>
  <cp:lastModifiedBy>India Today Group</cp:lastModifiedBy>
  <cp:revision>1</cp:revision>
  <dcterms:created xsi:type="dcterms:W3CDTF">2026-10-13T07:44:00Z</dcterms:created>
  <dcterms:modified xsi:type="dcterms:W3CDTF">2026-10-13T07:44:00Z</dcterms:modified>
</cp:coreProperties>
</file>