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t a glance" id="{b24fe45d-1e53-887d-1e54-597b869d7cf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at India Today Group, at a glance. On air: a first in India, real-time AI dubbing of our TV election programming into Indian regional languages; India's first AI news anchor; and AI doubles of our anchors that keep coverage live while they report from the field. Create: in-house AI voiceovers, images, video, infographics, magazine covers, illustrations and AI fashion shows, including India Today covers since 1975 brought back to life. Landmark stories: the first fully AI-made film broadcast by Indian news media, on Operation Sindoor (May 2025), and India's national anthem recreated with our freedom fighters. Newsroom ops: an AI-enabled CMS and automated weather, air quality, fuel and commodity updates. Truth and credibility stay at the heart: a 50-year legacy gearing for the next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to">
    <p:bg>
      <p:bgPr>
        <a:solidFill>
          <a:srgbClr val="F2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ayak/e234e072-51fc-5a89-bcc1-7181d2d8a173/scratchpad/build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329184"/>
            <a:ext cx="676656" cy="649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at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India Today Group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680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One newsroom, four ways AI works for it:  </a:t>
            </a:r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On air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Create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Landmark stories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·  </a:t>
            </a:r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Newsroom ops</a:t>
            </a:r>
            <a:endParaRPr lang="en-US" sz="1250" dirty="0"/>
          </a:p>
        </p:txBody>
      </p:sp>
      <p:sp>
        <p:nvSpPr>
          <p:cNvPr id="4" name="Tile - real-time AI dubbing"/>
          <p:cNvSpPr/>
          <p:nvPr/>
        </p:nvSpPr>
        <p:spPr>
          <a:xfrm>
            <a:off x="365760" y="1261872"/>
            <a:ext cx="3840480" cy="4169664"/>
          </a:xfrm>
          <a:prstGeom prst="roundRect">
            <a:avLst>
              <a:gd name="adj" fmla="val 4762"/>
            </a:avLst>
          </a:prstGeom>
          <a:solidFill>
            <a:srgbClr val="FFF3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1"/>
                </a:solidFill>
              </a:rPr>
              <a:t>ON AIR</a:t>
            </a:r>
            <a:endParaRPr lang="en-US" sz="900" dirty="0"/>
          </a:p>
        </p:txBody>
      </p:sp>
      <p:sp>
        <p:nvSpPr>
          <p:cNvPr id="6" name="Badge FIRST IN INDIA"/>
          <p:cNvSpPr txBox="1"/>
          <p:nvPr/>
        </p:nvSpPr>
        <p:spPr>
          <a:xfrm>
            <a:off x="2926080" y="1499616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E31E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chemeClr val="bg1"/>
                </a:solidFill>
              </a:rPr>
              <a:t>FIRST IN INDIA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Real-time AI dubbing of our election coverage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42032"/>
            <a:ext cx="3328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Live TV election programming, dubbed by AI into Indian regional languages as it airs, so every viewer follows the count in their own language.</a:t>
            </a:r>
            <a:endParaRPr lang="en-US" sz="1050" dirty="0"/>
          </a:p>
        </p:txBody>
      </p:sp>
      <p:sp>
        <p:nvSpPr>
          <p:cNvPr id="9" name="IMAGE SLOT - Election studio / dubbed broadcast"/>
          <p:cNvSpPr/>
          <p:nvPr/>
        </p:nvSpPr>
        <p:spPr>
          <a:xfrm>
            <a:off x="621792" y="3273552"/>
            <a:ext cx="3328416" cy="1508760"/>
          </a:xfrm>
          <a:prstGeom prst="roundRect">
            <a:avLst>
              <a:gd name="adj" fmla="val 7273"/>
            </a:avLst>
          </a:prstGeom>
          <a:solidFill>
            <a:srgbClr val="E6E6EB"/>
          </a:solidFill>
          <a:ln/>
        </p:spPr>
      </p:sp>
      <p:pic>
        <p:nvPicPr>
          <p:cNvPr id="10" name="slot icon - Election studio / dubbed broadcas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37719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3232" y="411937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Election studio / dubbed broadcast</a:t>
            </a:r>
            <a:endParaRPr lang="en-US" sz="850" dirty="0"/>
          </a:p>
        </p:txBody>
      </p:sp>
      <p:sp>
        <p:nvSpPr>
          <p:cNvPr id="12" name="Chip ● LIVE"/>
          <p:cNvSpPr txBox="1"/>
          <p:nvPr/>
        </p:nvSpPr>
        <p:spPr>
          <a:xfrm>
            <a:off x="621792" y="499262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31E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● LIVE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49926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Chip Bengali"/>
          <p:cNvSpPr txBox="1"/>
          <p:nvPr/>
        </p:nvSpPr>
        <p:spPr>
          <a:xfrm>
            <a:off x="1444752" y="4992624"/>
            <a:ext cx="5852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Bengali</a:t>
            </a:r>
            <a:endParaRPr lang="en-US" sz="850" dirty="0"/>
          </a:p>
        </p:txBody>
      </p:sp>
      <p:sp>
        <p:nvSpPr>
          <p:cNvPr id="15" name="Chip Tamil"/>
          <p:cNvSpPr txBox="1"/>
          <p:nvPr/>
        </p:nvSpPr>
        <p:spPr>
          <a:xfrm>
            <a:off x="2075688" y="4992624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Tamil</a:t>
            </a:r>
            <a:endParaRPr lang="en-US" sz="850" dirty="0"/>
          </a:p>
        </p:txBody>
      </p:sp>
      <p:sp>
        <p:nvSpPr>
          <p:cNvPr id="16" name="Chip Telugu"/>
          <p:cNvSpPr txBox="1"/>
          <p:nvPr/>
        </p:nvSpPr>
        <p:spPr>
          <a:xfrm>
            <a:off x="2596896" y="499262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Telugu</a:t>
            </a:r>
            <a:endParaRPr lang="en-US" sz="850" dirty="0"/>
          </a:p>
        </p:txBody>
      </p:sp>
      <p:sp>
        <p:nvSpPr>
          <p:cNvPr id="17" name="Chip Marathi"/>
          <p:cNvSpPr txBox="1"/>
          <p:nvPr/>
        </p:nvSpPr>
        <p:spPr>
          <a:xfrm>
            <a:off x="3191256" y="499262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</a:rPr>
              <a:t>Marathi</a:t>
            </a:r>
            <a:endParaRPr lang="en-US" sz="850" dirty="0"/>
          </a:p>
        </p:txBody>
      </p:sp>
      <p:sp>
        <p:nvSpPr>
          <p:cNvPr id="18" name="Tile - AI anchors"/>
          <p:cNvSpPr/>
          <p:nvPr/>
        </p:nvSpPr>
        <p:spPr>
          <a:xfrm>
            <a:off x="4352544" y="1261872"/>
            <a:ext cx="366354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08576" y="1536192"/>
            <a:ext cx="160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1"/>
                </a:solidFill>
              </a:rPr>
              <a:t>ON AIR</a:t>
            </a:r>
            <a:endParaRPr lang="en-US" sz="900" dirty="0"/>
          </a:p>
        </p:txBody>
      </p:sp>
      <p:sp>
        <p:nvSpPr>
          <p:cNvPr id="20" name="Badge FIRST IN INDIA"/>
          <p:cNvSpPr txBox="1"/>
          <p:nvPr/>
        </p:nvSpPr>
        <p:spPr>
          <a:xfrm>
            <a:off x="4608576" y="2962656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E31E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chemeClr val="bg1"/>
                </a:solidFill>
              </a:rPr>
              <a:t>FIRST IN INDIA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4608576" y="1792224"/>
            <a:ext cx="1606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AI news anchors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08576" y="2359152"/>
            <a:ext cx="160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India's first AI news anchor, presenting bulletins on air.</a:t>
            </a:r>
            <a:endParaRPr lang="en-US" sz="1050" dirty="0"/>
          </a:p>
        </p:txBody>
      </p:sp>
      <p:sp>
        <p:nvSpPr>
          <p:cNvPr id="23" name="IMAGE SLOT - AI anchor"/>
          <p:cNvSpPr/>
          <p:nvPr/>
        </p:nvSpPr>
        <p:spPr>
          <a:xfrm>
            <a:off x="6233008" y="1444752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E6E6EB"/>
          </a:solidFill>
          <a:ln/>
        </p:spPr>
      </p:sp>
      <p:pic>
        <p:nvPicPr>
          <p:cNvPr id="24" name="slot icon - AI anch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804" y="201168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324448" y="2359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AI anchor</a:t>
            </a:r>
            <a:endParaRPr lang="en-US" sz="850" dirty="0"/>
          </a:p>
        </p:txBody>
      </p:sp>
      <p:sp>
        <p:nvSpPr>
          <p:cNvPr id="26" name="Tile - AI doubles"/>
          <p:cNvSpPr/>
          <p:nvPr/>
        </p:nvSpPr>
        <p:spPr>
          <a:xfrm>
            <a:off x="8162392" y="1261872"/>
            <a:ext cx="366354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418424" y="1536192"/>
            <a:ext cx="160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1"/>
                </a:solidFill>
              </a:rPr>
              <a:t>ON AIR</a:t>
            </a:r>
            <a:endParaRPr lang="en-US" sz="900" dirty="0"/>
          </a:p>
        </p:txBody>
      </p:sp>
      <p:sp>
        <p:nvSpPr>
          <p:cNvPr id="28" name="Badge FIRST IN INDIA"/>
          <p:cNvSpPr txBox="1"/>
          <p:nvPr/>
        </p:nvSpPr>
        <p:spPr>
          <a:xfrm>
            <a:off x="8418424" y="2962656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E31E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chemeClr val="bg1"/>
                </a:solidFill>
              </a:rPr>
              <a:t>FIRST IN INDIA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8418424" y="1792224"/>
            <a:ext cx="1606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AI doubles of our anchors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418424" y="2359152"/>
            <a:ext cx="160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Coverage stays live while our anchors report from the field.</a:t>
            </a:r>
            <a:endParaRPr lang="en-US" sz="1050" dirty="0"/>
          </a:p>
        </p:txBody>
      </p:sp>
      <p:sp>
        <p:nvSpPr>
          <p:cNvPr id="31" name="IMAGE SLOT - Anchor + AI double"/>
          <p:cNvSpPr/>
          <p:nvPr/>
        </p:nvSpPr>
        <p:spPr>
          <a:xfrm>
            <a:off x="10042855" y="1444752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E6E6EB"/>
          </a:solidFill>
          <a:ln/>
        </p:spPr>
      </p:sp>
      <p:pic>
        <p:nvPicPr>
          <p:cNvPr id="32" name="slot icon - Anchor + AI doub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651" y="2011680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0134295" y="2359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Anchor + AI double</a:t>
            </a:r>
            <a:endParaRPr lang="en-US" sz="850" dirty="0"/>
          </a:p>
        </p:txBody>
      </p:sp>
      <p:sp>
        <p:nvSpPr>
          <p:cNvPr id="34" name="Tile - AI audio-visual studio"/>
          <p:cNvSpPr/>
          <p:nvPr/>
        </p:nvSpPr>
        <p:spPr>
          <a:xfrm>
            <a:off x="4352544" y="3419856"/>
            <a:ext cx="3157423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4608576" y="3694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2"/>
                </a:solidFill>
              </a:rPr>
              <a:t>CREATE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4608576" y="3950208"/>
            <a:ext cx="2645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audio-visual production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4608576" y="4288536"/>
            <a:ext cx="26453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Made in-house for TV, digital and events, even our covers since 1975, revived.</a:t>
            </a:r>
            <a:endParaRPr lang="en-US" sz="1050" dirty="0"/>
          </a:p>
        </p:txBody>
      </p:sp>
      <p:sp>
        <p:nvSpPr>
          <p:cNvPr id="38" name="Chip Voiceovers"/>
          <p:cNvSpPr txBox="1"/>
          <p:nvPr/>
        </p:nvSpPr>
        <p:spPr>
          <a:xfrm>
            <a:off x="4608576" y="4745736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Voiceovers</a:t>
            </a:r>
            <a:endParaRPr lang="en-US" sz="850" dirty="0"/>
          </a:p>
        </p:txBody>
      </p:sp>
      <p:sp>
        <p:nvSpPr>
          <p:cNvPr id="39" name="Chip Images"/>
          <p:cNvSpPr txBox="1"/>
          <p:nvPr/>
        </p:nvSpPr>
        <p:spPr>
          <a:xfrm>
            <a:off x="5340096" y="4745736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Images</a:t>
            </a:r>
            <a:endParaRPr lang="en-US" sz="850" dirty="0"/>
          </a:p>
        </p:txBody>
      </p:sp>
      <p:sp>
        <p:nvSpPr>
          <p:cNvPr id="40" name="Chip Video"/>
          <p:cNvSpPr txBox="1"/>
          <p:nvPr/>
        </p:nvSpPr>
        <p:spPr>
          <a:xfrm>
            <a:off x="5907024" y="474573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Video</a:t>
            </a:r>
            <a:endParaRPr lang="en-US" sz="850" dirty="0"/>
          </a:p>
        </p:txBody>
      </p:sp>
      <p:sp>
        <p:nvSpPr>
          <p:cNvPr id="41" name="Chip Infographics"/>
          <p:cNvSpPr txBox="1"/>
          <p:nvPr/>
        </p:nvSpPr>
        <p:spPr>
          <a:xfrm>
            <a:off x="6419088" y="4745736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Infographics</a:t>
            </a:r>
            <a:endParaRPr lang="en-US" sz="850" dirty="0"/>
          </a:p>
        </p:txBody>
      </p:sp>
      <p:sp>
        <p:nvSpPr>
          <p:cNvPr id="42" name="Chip Magazine covers"/>
          <p:cNvSpPr txBox="1"/>
          <p:nvPr/>
        </p:nvSpPr>
        <p:spPr>
          <a:xfrm>
            <a:off x="4608576" y="504748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Magazine covers</a:t>
            </a:r>
            <a:endParaRPr lang="en-US" sz="850" dirty="0"/>
          </a:p>
        </p:txBody>
      </p:sp>
      <p:sp>
        <p:nvSpPr>
          <p:cNvPr id="43" name="Chip Illustrations"/>
          <p:cNvSpPr txBox="1"/>
          <p:nvPr/>
        </p:nvSpPr>
        <p:spPr>
          <a:xfrm>
            <a:off x="5669280" y="504748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Illustrations</a:t>
            </a:r>
            <a:endParaRPr lang="en-US" sz="850" dirty="0"/>
          </a:p>
        </p:txBody>
      </p:sp>
      <p:sp>
        <p:nvSpPr>
          <p:cNvPr id="44" name="Chip Fashion shows"/>
          <p:cNvSpPr txBox="1"/>
          <p:nvPr/>
        </p:nvSpPr>
        <p:spPr>
          <a:xfrm>
            <a:off x="6473952" y="504748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1EB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BD0"/>
                </a:solidFill>
              </a:rPr>
              <a:t>Fashion shows</a:t>
            </a:r>
            <a:endParaRPr lang="en-US" sz="850" dirty="0"/>
          </a:p>
        </p:txBody>
      </p:sp>
      <p:sp>
        <p:nvSpPr>
          <p:cNvPr id="45" name="Tile - Operation Sindoor"/>
          <p:cNvSpPr/>
          <p:nvPr/>
        </p:nvSpPr>
        <p:spPr>
          <a:xfrm>
            <a:off x="7656271" y="3419856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6" name="IMAGE SLOT - Film still"/>
          <p:cNvSpPr/>
          <p:nvPr/>
        </p:nvSpPr>
        <p:spPr>
          <a:xfrm>
            <a:off x="7802575" y="3566160"/>
            <a:ext cx="1719072" cy="786384"/>
          </a:xfrm>
          <a:prstGeom prst="roundRect">
            <a:avLst>
              <a:gd name="adj" fmla="val 13953"/>
            </a:avLst>
          </a:prstGeom>
          <a:solidFill>
            <a:srgbClr val="E6E6EB"/>
          </a:solidFill>
          <a:ln/>
        </p:spPr>
      </p:sp>
      <p:pic>
        <p:nvPicPr>
          <p:cNvPr id="47" name="slot icon - Film stil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4" y="3731666"/>
            <a:ext cx="235915" cy="235915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894015" y="40507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Film still</a:t>
            </a:r>
            <a:endParaRPr lang="en-US" sz="850" dirty="0"/>
          </a:p>
        </p:txBody>
      </p:sp>
      <p:sp>
        <p:nvSpPr>
          <p:cNvPr id="49" name="Text 43"/>
          <p:cNvSpPr txBox="1"/>
          <p:nvPr/>
        </p:nvSpPr>
        <p:spPr>
          <a:xfrm>
            <a:off x="7839151" y="4443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3"/>
                </a:solidFill>
              </a:rPr>
              <a:t>LANDMARK STORY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7839151" y="4645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Operation Sindoor, fully AI-made</a:t>
            </a:r>
            <a:endParaRPr lang="en-US" sz="1250" dirty="0"/>
          </a:p>
        </p:txBody>
      </p:sp>
      <p:sp>
        <p:nvSpPr>
          <p:cNvPr id="51" name="Text 45"/>
          <p:cNvSpPr txBox="1"/>
          <p:nvPr/>
        </p:nvSpPr>
        <p:spPr>
          <a:xfrm>
            <a:off x="7839151" y="5065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First in Indian news media. May 2025.</a:t>
            </a:r>
            <a:endParaRPr lang="en-US" sz="900" dirty="0"/>
          </a:p>
        </p:txBody>
      </p:sp>
      <p:sp>
        <p:nvSpPr>
          <p:cNvPr id="52" name="Tile - National anthem"/>
          <p:cNvSpPr/>
          <p:nvPr/>
        </p:nvSpPr>
        <p:spPr>
          <a:xfrm>
            <a:off x="9814255" y="3419856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3" name="IMAGE SLOT - Anthem still"/>
          <p:cNvSpPr/>
          <p:nvPr/>
        </p:nvSpPr>
        <p:spPr>
          <a:xfrm>
            <a:off x="9960559" y="3566160"/>
            <a:ext cx="1719072" cy="786384"/>
          </a:xfrm>
          <a:prstGeom prst="roundRect">
            <a:avLst>
              <a:gd name="adj" fmla="val 13953"/>
            </a:avLst>
          </a:prstGeom>
          <a:solidFill>
            <a:srgbClr val="E6E6EB"/>
          </a:solidFill>
          <a:ln/>
        </p:spPr>
      </p:sp>
      <p:pic>
        <p:nvPicPr>
          <p:cNvPr id="54" name="slot icon - Anthem stil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138" y="3731666"/>
            <a:ext cx="235915" cy="235915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10051999" y="40507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Anthem still</a:t>
            </a:r>
            <a:endParaRPr lang="en-US" sz="850" dirty="0"/>
          </a:p>
        </p:txBody>
      </p:sp>
      <p:sp>
        <p:nvSpPr>
          <p:cNvPr id="56" name="Text 49"/>
          <p:cNvSpPr txBox="1"/>
          <p:nvPr/>
        </p:nvSpPr>
        <p:spPr>
          <a:xfrm>
            <a:off x="9997135" y="4443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3"/>
                </a:solidFill>
              </a:rPr>
              <a:t>LANDMARK STORY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9997135" y="4645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National anthem, recreated with AI</a:t>
            </a:r>
            <a:endParaRPr lang="en-US" sz="1250" dirty="0"/>
          </a:p>
        </p:txBody>
      </p:sp>
      <p:sp>
        <p:nvSpPr>
          <p:cNvPr id="58" name="Text 51"/>
          <p:cNvSpPr txBox="1"/>
          <p:nvPr/>
        </p:nvSpPr>
        <p:spPr>
          <a:xfrm>
            <a:off x="9997135" y="5065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Freedom fighters, in their own likeness.</a:t>
            </a:r>
            <a:endParaRPr lang="en-US" sz="900" dirty="0"/>
          </a:p>
        </p:txBody>
      </p:sp>
      <p:sp>
        <p:nvSpPr>
          <p:cNvPr id="59" name="Tile - AI CMS"/>
          <p:cNvSpPr/>
          <p:nvPr/>
        </p:nvSpPr>
        <p:spPr>
          <a:xfrm>
            <a:off x="365760" y="5577840"/>
            <a:ext cx="2834640" cy="932688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</p:sp>
      <p:sp>
        <p:nvSpPr>
          <p:cNvPr id="60" name="CMS disc"/>
          <p:cNvSpPr/>
          <p:nvPr/>
        </p:nvSpPr>
        <p:spPr>
          <a:xfrm>
            <a:off x="594360" y="5788152"/>
            <a:ext cx="512064" cy="512064"/>
          </a:xfrm>
          <a:prstGeom prst="ellipse">
            <a:avLst/>
          </a:prstGeom>
          <a:solidFill>
            <a:srgbClr val="E3F4F1"/>
          </a:solidFill>
          <a:ln/>
        </p:spPr>
      </p:sp>
      <p:pic>
        <p:nvPicPr>
          <p:cNvPr id="61" name="CM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907024"/>
            <a:ext cx="274320" cy="274320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1280160" y="5733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4"/>
                </a:solidFill>
              </a:rPr>
              <a:t>NEWSROOM OPS</a:t>
            </a:r>
            <a:endParaRPr lang="en-US" sz="900" dirty="0"/>
          </a:p>
        </p:txBody>
      </p:sp>
      <p:sp>
        <p:nvSpPr>
          <p:cNvPr id="63" name="Text 55"/>
          <p:cNvSpPr txBox="1"/>
          <p:nvPr/>
        </p:nvSpPr>
        <p:spPr>
          <a:xfrm>
            <a:off x="1280160" y="5925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AI-enabled CMS</a:t>
            </a:r>
            <a:endParaRPr lang="en-US" sz="1350" dirty="0"/>
          </a:p>
        </p:txBody>
      </p:sp>
      <p:sp>
        <p:nvSpPr>
          <p:cNvPr id="64" name="Text 56"/>
          <p:cNvSpPr txBox="1"/>
          <p:nvPr/>
        </p:nvSpPr>
        <p:spPr>
          <a:xfrm>
            <a:off x="1280160" y="6190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Faster creation and delivery.</a:t>
            </a:r>
            <a:endParaRPr lang="en-US" sz="950" dirty="0"/>
          </a:p>
        </p:txBody>
      </p:sp>
      <p:sp>
        <p:nvSpPr>
          <p:cNvPr id="65" name="Tile - automation"/>
          <p:cNvSpPr/>
          <p:nvPr/>
        </p:nvSpPr>
        <p:spPr>
          <a:xfrm>
            <a:off x="3346704" y="5577840"/>
            <a:ext cx="5406847" cy="932688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</p:sp>
      <p:sp>
        <p:nvSpPr>
          <p:cNvPr id="66" name="Text 58"/>
          <p:cNvSpPr txBox="1"/>
          <p:nvPr/>
        </p:nvSpPr>
        <p:spPr>
          <a:xfrm>
            <a:off x="3602736" y="5733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chemeClr val="accent4"/>
                </a:solidFill>
              </a:rPr>
              <a:t>NEWSROOM OPS</a:t>
            </a:r>
            <a:endParaRPr lang="en-US" sz="900" dirty="0"/>
          </a:p>
        </p:txBody>
      </p:sp>
      <p:sp>
        <p:nvSpPr>
          <p:cNvPr id="67" name="Text 59"/>
          <p:cNvSpPr txBox="1"/>
          <p:nvPr/>
        </p:nvSpPr>
        <p:spPr>
          <a:xfrm>
            <a:off x="3602736" y="5925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Routine updates, automated</a:t>
            </a:r>
            <a:endParaRPr lang="en-US" sz="1350" dirty="0"/>
          </a:p>
        </p:txBody>
      </p:sp>
      <p:sp>
        <p:nvSpPr>
          <p:cNvPr id="68" name="Text 60"/>
          <p:cNvSpPr txBox="1"/>
          <p:nvPr/>
        </p:nvSpPr>
        <p:spPr>
          <a:xfrm>
            <a:off x="3602736" y="61904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Frees journalists for context and judgment.</a:t>
            </a:r>
            <a:endParaRPr lang="en-US" sz="950" dirty="0"/>
          </a:p>
        </p:txBody>
      </p:sp>
      <p:pic>
        <p:nvPicPr>
          <p:cNvPr id="69" name="Weath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0277" y="5760720"/>
            <a:ext cx="310896" cy="310896"/>
          </a:xfrm>
          <a:prstGeom prst="rect">
            <a:avLst/>
          </a:prstGeom>
        </p:spPr>
      </p:pic>
      <p:sp>
        <p:nvSpPr>
          <p:cNvPr id="70" name="Text 61"/>
          <p:cNvSpPr txBox="1"/>
          <p:nvPr/>
        </p:nvSpPr>
        <p:spPr>
          <a:xfrm>
            <a:off x="6181344" y="6126480"/>
            <a:ext cx="608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Weather</a:t>
            </a:r>
            <a:endParaRPr lang="en-US" sz="850" dirty="0"/>
          </a:p>
        </p:txBody>
      </p:sp>
      <p:pic>
        <p:nvPicPr>
          <p:cNvPr id="71" name="Air qualit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039" y="5760720"/>
            <a:ext cx="310896" cy="31089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6790106" y="6126480"/>
            <a:ext cx="608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Air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quality</a:t>
            </a:r>
            <a:endParaRPr lang="en-US" sz="850" dirty="0"/>
          </a:p>
        </p:txBody>
      </p:sp>
      <p:pic>
        <p:nvPicPr>
          <p:cNvPr id="73" name="Fuel price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7801" y="5760720"/>
            <a:ext cx="310896" cy="310896"/>
          </a:xfrm>
          <a:prstGeom prst="rect">
            <a:avLst/>
          </a:prstGeom>
        </p:spPr>
      </p:pic>
      <p:sp>
        <p:nvSpPr>
          <p:cNvPr id="74" name="Text 63"/>
          <p:cNvSpPr txBox="1"/>
          <p:nvPr/>
        </p:nvSpPr>
        <p:spPr>
          <a:xfrm>
            <a:off x="7398868" y="6126480"/>
            <a:ext cx="608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Fuel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prices</a:t>
            </a:r>
            <a:endParaRPr lang="en-US" sz="850" dirty="0"/>
          </a:p>
        </p:txBody>
      </p:sp>
      <p:pic>
        <p:nvPicPr>
          <p:cNvPr id="75" name="Commodity rates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562" y="5760720"/>
            <a:ext cx="310896" cy="310896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8007629" y="6126480"/>
            <a:ext cx="608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Commodity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rates</a:t>
            </a:r>
            <a:endParaRPr lang="en-US" sz="850" dirty="0"/>
          </a:p>
        </p:txBody>
      </p:sp>
      <p:sp>
        <p:nvSpPr>
          <p:cNvPr id="77" name="Tile - commitment"/>
          <p:cNvSpPr/>
          <p:nvPr/>
        </p:nvSpPr>
        <p:spPr>
          <a:xfrm>
            <a:off x="8899855" y="5577840"/>
            <a:ext cx="2926080" cy="932688"/>
          </a:xfrm>
          <a:prstGeom prst="roundRect">
            <a:avLst>
              <a:gd name="adj" fmla="val 19608"/>
            </a:avLst>
          </a:prstGeom>
          <a:solidFill>
            <a:srgbClr val="1D1D1F"/>
          </a:solidFill>
          <a:ln/>
        </p:spPr>
      </p:sp>
      <p:sp>
        <p:nvSpPr>
          <p:cNvPr id="78" name="Text 66"/>
          <p:cNvSpPr txBox="1"/>
          <p:nvPr/>
        </p:nvSpPr>
        <p:spPr>
          <a:xfrm>
            <a:off x="9155887" y="57058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Truth and credibility at the heart of it.</a:t>
            </a:r>
            <a:endParaRPr lang="en-US" sz="1250" dirty="0"/>
          </a:p>
        </p:txBody>
      </p:sp>
      <p:sp>
        <p:nvSpPr>
          <p:cNvPr id="79" name="Text 67"/>
          <p:cNvSpPr txBox="1"/>
          <p:nvPr/>
        </p:nvSpPr>
        <p:spPr>
          <a:xfrm>
            <a:off x="9155887" y="61813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C7CC"/>
                </a:solidFill>
              </a:rPr>
              <a:t>A 50-year legacy, gearing for the </a:t>
            </a:r>
            <a:pPr indent="0" marL="0">
              <a:buNone/>
            </a:pPr>
            <a:r>
              <a:rPr lang="en-US" sz="950" b="1" dirty="0">
                <a:solidFill>
                  <a:srgbClr val="FF6B6F"/>
                </a:solidFill>
              </a:rPr>
              <a:t>next 50.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a Today AI Bento">
  <a:themeElements>
    <a:clrScheme name="India Today AI Bento">
      <a:dk1>
        <a:srgbClr val="1D1D1F"/>
      </a:dk1>
      <a:lt1>
        <a:srgbClr val="FFFFFF"/>
      </a:lt1>
      <a:dk2>
        <a:srgbClr val="6E6E73"/>
      </a:dk2>
      <a:lt2>
        <a:srgbClr val="F2F2F5"/>
      </a:lt2>
      <a:accent1>
        <a:srgbClr val="E31E24"/>
      </a:accent1>
      <a:accent2>
        <a:srgbClr val="7A3BD0"/>
      </a:accent2>
      <a:accent3>
        <a:srgbClr val="D9480F"/>
      </a:accent3>
      <a:accent4>
        <a:srgbClr val="0E8F7E"/>
      </a:accent4>
      <a:accent5>
        <a:srgbClr val="E6E6EB"/>
      </a:accent5>
      <a:accent6>
        <a:srgbClr val="FFF3F3"/>
      </a:accent6>
      <a:hlink>
        <a:srgbClr val="E31E24"/>
      </a:hlink>
      <a:folHlink>
        <a:srgbClr val="6E6E73"/>
      </a:folHlink>
    </a:clrScheme>
    <a:fontScheme name="India Today AI Bento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India Today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 India Today Group — at a glance</dc:title>
  <dc:subject>PptxGenJS Presentation</dc:subject>
  <dc:creator>India Today Group</dc:creator>
  <cp:lastModifiedBy>India Today Group</cp:lastModifiedBy>
  <cp:revision>1</cp:revision>
  <dcterms:created xsi:type="dcterms:W3CDTF">2026-10-13T09:09:49Z</dcterms:created>
  <dcterms:modified xsi:type="dcterms:W3CDTF">2026-10-13T09:09:49Z</dcterms:modified>
</cp:coreProperties>
</file>