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 a glance" id="{23f955df-89fb-a148-bafe-7ea04601e76e}">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at India Today Group, at a glance. A first in India: our TV election programming is dubbed by AI in real time into multiple Indian languages. India's first AI news anchor is now joined by AI doubles of our own anchors, keeping bulletins on air even when the anchors are out in the field. An in-house AI studio produces voiceovers, video, graphics, infographics, magazine covers, illustrations and AI fashion shows, and has brought iconic India Today covers since 1975 back to life. Landmark stories: the first fully AI-made film from Indian news media, on Operation Sindoor (May 2025), and the national anthem voiced by India's freedom fighters, recreated in face and voice. Behind the scenes: an AI-enabled CMS, and automated weather, air quality, fuel and commodity updates. Truth and credibility stay at the heart of it: a 50-year legacy, gearing up for the next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ento">
    <p:bg>
      <p:bgPr>
        <a:solidFill>
          <a:srgbClr val="F2F2F5"/>
        </a:solidFill>
      </p:bgPr>
    </p:bg>
    <p:spTree>
      <p:nvGrpSpPr>
        <p:cNvPr id="1" name=""/>
        <p:cNvGrpSpPr/>
        <p:nvPr/>
      </p:nvGrpSpPr>
      <p:grpSpPr>
        <a:xfrm>
          <a:off x="0" y="0"/>
          <a:ext cx="0" cy="0"/>
          <a:chOff x="0" y="0"/>
          <a:chExt cx="0" cy="0"/>
        </a:xfrm>
      </p:grpSpPr>
      <p:pic>
        <p:nvPicPr>
          <p:cNvPr id="2" name="Image 0" descr="/tmp/claude-0/-home-user-nayak/e234e072-51fc-5a89-bcc1-7181d2d8a173/scratchpad/build/assets/logo.png">    </p:cNvPr>
          <p:cNvPicPr>
            <a:picLocks noChangeAspect="1"/>
          </p:cNvPicPr>
          <p:nvPr/>
        </p:nvPicPr>
        <p:blipFill>
          <a:blip r:embed="rId1"/>
          <a:stretch>
            <a:fillRect/>
          </a:stretch>
        </p:blipFill>
        <p:spPr>
          <a:xfrm>
            <a:off x="11155680" y="329184"/>
            <a:ext cx="676656" cy="64922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365760" y="274320"/>
            <a:ext cx="8229600" cy="475488"/>
          </a:xfrm>
          <a:prstGeom prst="rect">
            <a:avLst/>
          </a:prstGeom>
          <a:noFill/>
          <a:ln/>
        </p:spPr>
        <p:txBody>
          <a:bodyPr wrap="square" lIns="0" tIns="0" rIns="0" bIns="0" rtlCol="0" anchor="ctr"/>
          <a:lstStyle/>
          <a:p>
            <a:pPr indent="0" marL="0">
              <a:lnSpc>
                <a:spcPct val="95000"/>
              </a:lnSpc>
              <a:buNone/>
            </a:pPr>
            <a:r>
              <a:rPr lang="en-US" sz="2800" b="1" dirty="0">
                <a:solidFill>
                  <a:schemeClr val="tx1"/>
                </a:solidFill>
                <a:latin typeface="Georgia" pitchFamily="34" charset="0"/>
                <a:ea typeface="Georgia" pitchFamily="34" charset="-122"/>
                <a:cs typeface="Georgia" pitchFamily="34" charset="-120"/>
              </a:rPr>
              <a:t>AI at </a:t>
            </a:r>
            <a:pPr indent="0" marL="0">
              <a:lnSpc>
                <a:spcPct val="95000"/>
              </a:lnSpc>
              <a:buNone/>
            </a:pPr>
            <a:r>
              <a:rPr lang="en-US" sz="2800" b="1" dirty="0">
                <a:solidFill>
                  <a:schemeClr val="accent1"/>
                </a:solidFill>
                <a:latin typeface="Georgia" pitchFamily="34" charset="0"/>
                <a:ea typeface="Georgia" pitchFamily="34" charset="-122"/>
                <a:cs typeface="Georgia" pitchFamily="34" charset="-120"/>
              </a:rPr>
              <a:t>India Today Group</a:t>
            </a:r>
            <a:endParaRPr lang="en-US" sz="2800" dirty="0"/>
          </a:p>
        </p:txBody>
      </p:sp>
      <p:sp>
        <p:nvSpPr>
          <p:cNvPr id="3" name="Text 1"/>
          <p:cNvSpPr txBox="1"/>
          <p:nvPr/>
        </p:nvSpPr>
        <p:spPr>
          <a:xfrm>
            <a:off x="365760" y="786384"/>
            <a:ext cx="10058400" cy="274320"/>
          </a:xfrm>
          <a:prstGeom prst="rect">
            <a:avLst/>
          </a:prstGeom>
          <a:noFill/>
          <a:ln/>
        </p:spPr>
        <p:txBody>
          <a:bodyPr wrap="square" lIns="0" tIns="0" rIns="0" bIns="0" rtlCol="0" anchor="ctr"/>
          <a:lstStyle/>
          <a:p>
            <a:pPr indent="0" marL="0">
              <a:buNone/>
            </a:pPr>
            <a:r>
              <a:rPr lang="en-US" sz="1300" dirty="0">
                <a:solidFill>
                  <a:schemeClr val="tx2"/>
                </a:solidFill>
              </a:rPr>
              <a:t>Built into the newsroom, not bolted on: AI now shapes how we report, produce and deliver the news.</a:t>
            </a:r>
            <a:endParaRPr lang="en-US" sz="1300" dirty="0"/>
          </a:p>
        </p:txBody>
      </p:sp>
      <p:sp>
        <p:nvSpPr>
          <p:cNvPr id="4" name="Tile - real-time AI dubbing"/>
          <p:cNvSpPr/>
          <p:nvPr/>
        </p:nvSpPr>
        <p:spPr>
          <a:xfrm>
            <a:off x="365760" y="1261872"/>
            <a:ext cx="3840480" cy="4169664"/>
          </a:xfrm>
          <a:prstGeom prst="roundRect">
            <a:avLst>
              <a:gd name="adj" fmla="val 4762"/>
            </a:avLst>
          </a:prstGeom>
          <a:solidFill>
            <a:srgbClr val="FFFFFF"/>
          </a:solidFill>
          <a:ln/>
        </p:spPr>
      </p:sp>
      <p:sp>
        <p:nvSpPr>
          <p:cNvPr id="5" name="Badge"/>
          <p:cNvSpPr txBox="1"/>
          <p:nvPr/>
        </p:nvSpPr>
        <p:spPr>
          <a:xfrm>
            <a:off x="621792" y="1517904"/>
            <a:ext cx="1024128" cy="219456"/>
          </a:xfrm>
          <a:prstGeom prst="roundRect">
            <a:avLst>
              <a:gd name="adj" fmla="val 50000"/>
            </a:avLst>
          </a:prstGeom>
          <a:solidFill>
            <a:srgbClr val="E31E24"/>
          </a:solidFill>
          <a:ln/>
        </p:spPr>
        <p:txBody>
          <a:bodyPr wrap="square" lIns="0" tIns="0" rIns="0" bIns="0" rtlCol="0" anchor="ctr"/>
          <a:lstStyle/>
          <a:p>
            <a:pPr algn="ctr" indent="0" marL="0">
              <a:buNone/>
            </a:pPr>
            <a:r>
              <a:rPr lang="en-US" sz="750" b="1" spc="80" kern="0" dirty="0">
                <a:solidFill>
                  <a:schemeClr val="bg1"/>
                </a:solidFill>
              </a:rPr>
              <a:t>FIRST IN INDIA</a:t>
            </a:r>
            <a:endParaRPr lang="en-US" sz="750" dirty="0"/>
          </a:p>
        </p:txBody>
      </p:sp>
      <p:sp>
        <p:nvSpPr>
          <p:cNvPr id="6" name="Text 4"/>
          <p:cNvSpPr txBox="1"/>
          <p:nvPr/>
        </p:nvSpPr>
        <p:spPr>
          <a:xfrm>
            <a:off x="621792" y="1847088"/>
            <a:ext cx="3328416" cy="658368"/>
          </a:xfrm>
          <a:prstGeom prst="rect">
            <a:avLst/>
          </a:prstGeom>
          <a:noFill/>
          <a:ln/>
        </p:spPr>
        <p:txBody>
          <a:bodyPr wrap="square" lIns="0" tIns="0" rIns="0" bIns="0" rtlCol="0" anchor="t"/>
          <a:lstStyle/>
          <a:p>
            <a:pPr indent="0" marL="0">
              <a:lnSpc>
                <a:spcPct val="95000"/>
              </a:lnSpc>
              <a:buNone/>
            </a:pPr>
            <a:r>
              <a:rPr lang="en-US" sz="1900" b="1" dirty="0">
                <a:solidFill>
                  <a:schemeClr val="tx1"/>
                </a:solidFill>
                <a:latin typeface="Georgia" pitchFamily="34" charset="0"/>
                <a:ea typeface="Georgia" pitchFamily="34" charset="-122"/>
                <a:cs typeface="Georgia" pitchFamily="34" charset="-120"/>
              </a:rPr>
              <a:t>Election coverage, live in every language</a:t>
            </a:r>
            <a:endParaRPr lang="en-US" sz="1900" dirty="0"/>
          </a:p>
        </p:txBody>
      </p:sp>
      <p:sp>
        <p:nvSpPr>
          <p:cNvPr id="7" name="Text 5"/>
          <p:cNvSpPr txBox="1"/>
          <p:nvPr/>
        </p:nvSpPr>
        <p:spPr>
          <a:xfrm>
            <a:off x="621792" y="2578608"/>
            <a:ext cx="3328416" cy="749808"/>
          </a:xfrm>
          <a:prstGeom prst="rect">
            <a:avLst/>
          </a:prstGeom>
          <a:noFill/>
          <a:ln/>
        </p:spPr>
        <p:txBody>
          <a:bodyPr wrap="square" lIns="0" tIns="0" rIns="0" bIns="0" rtlCol="0" anchor="t"/>
          <a:lstStyle/>
          <a:p>
            <a:pPr indent="0" marL="0">
              <a:buNone/>
            </a:pPr>
            <a:r>
              <a:rPr lang="en-US" sz="1050" dirty="0">
                <a:solidFill>
                  <a:schemeClr val="tx2"/>
                </a:solidFill>
              </a:rPr>
              <a:t>Our TV election programming is dubbed by AI in real time into multiple Indian languages, so viewers across the country follow the results as they unfold, in the language they think in.</a:t>
            </a:r>
            <a:endParaRPr lang="en-US" sz="1050" dirty="0"/>
          </a:p>
        </p:txBody>
      </p:sp>
      <p:pic>
        <p:nvPicPr>
          <p:cNvPr id="8" name="Dubbing visual" descr="/tmp/claude-0/-home-user-nayak/e234e072-51fc-5a89-bcc1-7181d2d8a173/scratchpad/build/assets/u_dubbing.png">    </p:cNvPr>
          <p:cNvPicPr>
            <a:picLocks noChangeAspect="1"/>
          </p:cNvPicPr>
          <p:nvPr/>
        </p:nvPicPr>
        <p:blipFill>
          <a:blip r:embed="rId1"/>
          <a:stretch>
            <a:fillRect/>
          </a:stretch>
        </p:blipFill>
        <p:spPr>
          <a:xfrm>
            <a:off x="621792" y="3392424"/>
            <a:ext cx="3328416" cy="1874520"/>
          </a:xfrm>
          <a:prstGeom prst="rect">
            <a:avLst/>
          </a:prstGeom>
        </p:spPr>
      </p:pic>
      <p:sp>
        <p:nvSpPr>
          <p:cNvPr id="9" name="Tile - AI anchors and doubles"/>
          <p:cNvSpPr/>
          <p:nvPr/>
        </p:nvSpPr>
        <p:spPr>
          <a:xfrm>
            <a:off x="4352544" y="1261872"/>
            <a:ext cx="7473391" cy="2011680"/>
          </a:xfrm>
          <a:prstGeom prst="roundRect">
            <a:avLst>
              <a:gd name="adj" fmla="val 9091"/>
            </a:avLst>
          </a:prstGeom>
          <a:solidFill>
            <a:srgbClr val="FFFFFF"/>
          </a:solidFill>
          <a:ln/>
        </p:spPr>
      </p:sp>
      <p:sp>
        <p:nvSpPr>
          <p:cNvPr id="10" name="Badge"/>
          <p:cNvSpPr txBox="1"/>
          <p:nvPr/>
        </p:nvSpPr>
        <p:spPr>
          <a:xfrm>
            <a:off x="4608576" y="1517904"/>
            <a:ext cx="1024128" cy="219456"/>
          </a:xfrm>
          <a:prstGeom prst="roundRect">
            <a:avLst>
              <a:gd name="adj" fmla="val 50000"/>
            </a:avLst>
          </a:prstGeom>
          <a:solidFill>
            <a:srgbClr val="E31E24"/>
          </a:solidFill>
          <a:ln/>
        </p:spPr>
        <p:txBody>
          <a:bodyPr wrap="square" lIns="0" tIns="0" rIns="0" bIns="0" rtlCol="0" anchor="ctr"/>
          <a:lstStyle/>
          <a:p>
            <a:pPr algn="ctr" indent="0" marL="0">
              <a:buNone/>
            </a:pPr>
            <a:r>
              <a:rPr lang="en-US" sz="750" b="1" spc="80" kern="0" dirty="0">
                <a:solidFill>
                  <a:schemeClr val="bg1"/>
                </a:solidFill>
              </a:rPr>
              <a:t>FIRST IN INDIA</a:t>
            </a:r>
            <a:endParaRPr lang="en-US" sz="750" dirty="0"/>
          </a:p>
        </p:txBody>
      </p:sp>
      <p:sp>
        <p:nvSpPr>
          <p:cNvPr id="11" name="Text 8"/>
          <p:cNvSpPr txBox="1"/>
          <p:nvPr/>
        </p:nvSpPr>
        <p:spPr>
          <a:xfrm>
            <a:off x="4608576" y="1847088"/>
            <a:ext cx="3108960" cy="329184"/>
          </a:xfrm>
          <a:prstGeom prst="rect">
            <a:avLst/>
          </a:prstGeom>
          <a:noFill/>
          <a:ln/>
        </p:spPr>
        <p:txBody>
          <a:bodyPr wrap="square" lIns="0" tIns="0" rIns="0" bIns="0" rtlCol="0" anchor="t"/>
          <a:lstStyle/>
          <a:p>
            <a:pPr indent="0" marL="0">
              <a:lnSpc>
                <a:spcPct val="95000"/>
              </a:lnSpc>
              <a:buNone/>
            </a:pPr>
            <a:r>
              <a:rPr lang="en-US" sz="1600" b="1" dirty="0">
                <a:solidFill>
                  <a:schemeClr val="tx1"/>
                </a:solidFill>
                <a:latin typeface="Georgia" pitchFamily="34" charset="0"/>
                <a:ea typeface="Georgia" pitchFamily="34" charset="-122"/>
                <a:cs typeface="Georgia" pitchFamily="34" charset="-120"/>
              </a:rPr>
              <a:t>AI anchors and AI doubles</a:t>
            </a:r>
            <a:endParaRPr lang="en-US" sz="1600" dirty="0"/>
          </a:p>
        </p:txBody>
      </p:sp>
      <p:sp>
        <p:nvSpPr>
          <p:cNvPr id="12" name="Text 9"/>
          <p:cNvSpPr txBox="1"/>
          <p:nvPr/>
        </p:nvSpPr>
        <p:spPr>
          <a:xfrm>
            <a:off x="4608576" y="2249424"/>
            <a:ext cx="3108960" cy="777240"/>
          </a:xfrm>
          <a:prstGeom prst="rect">
            <a:avLst/>
          </a:prstGeom>
          <a:noFill/>
          <a:ln/>
        </p:spPr>
        <p:txBody>
          <a:bodyPr wrap="square" lIns="0" tIns="0" rIns="0" bIns="0" rtlCol="0" anchor="t"/>
          <a:lstStyle/>
          <a:p>
            <a:pPr indent="0" marL="0">
              <a:buNone/>
            </a:pPr>
            <a:r>
              <a:rPr lang="en-US" sz="1050" dirty="0">
                <a:solidFill>
                  <a:schemeClr val="tx2"/>
                </a:solidFill>
              </a:rPr>
              <a:t>India's first AI news anchor, now joined by AI doubles of our own anchors. Bulletins stay on air around the clock, even when the anchors are out in the field.</a:t>
            </a:r>
            <a:endParaRPr lang="en-US" sz="1050" dirty="0"/>
          </a:p>
        </p:txBody>
      </p:sp>
      <p:pic>
        <p:nvPicPr>
          <p:cNvPr id="13" name="AI anchor image" descr="/tmp/claude-0/-home-user-nayak/e234e072-51fc-5a89-bcc1-7181d2d8a173/scratchpad/build/assets/u_anchor.png">    </p:cNvPr>
          <p:cNvPicPr>
            <a:picLocks noChangeAspect="1"/>
          </p:cNvPicPr>
          <p:nvPr/>
        </p:nvPicPr>
        <p:blipFill>
          <a:blip r:embed="rId2"/>
          <a:stretch>
            <a:fillRect/>
          </a:stretch>
        </p:blipFill>
        <p:spPr>
          <a:xfrm>
            <a:off x="7875727" y="1444752"/>
            <a:ext cx="1819656" cy="1645920"/>
          </a:xfrm>
          <a:prstGeom prst="rect">
            <a:avLst/>
          </a:prstGeom>
        </p:spPr>
      </p:pic>
      <p:pic>
        <p:nvPicPr>
          <p:cNvPr id="14" name="AI double image" descr="/tmp/claude-0/-home-user-nayak/e234e072-51fc-5a89-bcc1-7181d2d8a173/scratchpad/build/assets/u_double.png">    </p:cNvPr>
          <p:cNvPicPr>
            <a:picLocks noChangeAspect="1"/>
          </p:cNvPicPr>
          <p:nvPr/>
        </p:nvPicPr>
        <p:blipFill>
          <a:blip r:embed="rId3"/>
          <a:stretch>
            <a:fillRect/>
          </a:stretch>
        </p:blipFill>
        <p:spPr>
          <a:xfrm>
            <a:off x="9823399" y="1444752"/>
            <a:ext cx="1819656" cy="1645920"/>
          </a:xfrm>
          <a:prstGeom prst="rect">
            <a:avLst/>
          </a:prstGeom>
        </p:spPr>
      </p:pic>
      <p:sp>
        <p:nvSpPr>
          <p:cNvPr id="15" name="Label AI ANCHOR"/>
          <p:cNvSpPr txBox="1"/>
          <p:nvPr/>
        </p:nvSpPr>
        <p:spPr>
          <a:xfrm>
            <a:off x="7985455" y="2779776"/>
            <a:ext cx="786384" cy="219456"/>
          </a:xfrm>
          <a:prstGeom prst="roundRect">
            <a:avLst>
              <a:gd name="adj" fmla="val 50000"/>
            </a:avLst>
          </a:prstGeom>
          <a:solidFill>
            <a:srgbClr val="FFFFFF">
              <a:alpha val="92000"/>
            </a:srgbClr>
          </a:solidFill>
          <a:ln/>
        </p:spPr>
        <p:txBody>
          <a:bodyPr wrap="square" lIns="0" tIns="0" rIns="0" bIns="0" rtlCol="0" anchor="ctr"/>
          <a:lstStyle/>
          <a:p>
            <a:pPr algn="ctr" indent="0" marL="0">
              <a:buNone/>
            </a:pPr>
            <a:r>
              <a:rPr lang="en-US" sz="800" b="1" dirty="0">
                <a:solidFill>
                  <a:schemeClr val="tx1"/>
                </a:solidFill>
              </a:rPr>
              <a:t>AI ANCHOR</a:t>
            </a:r>
            <a:endParaRPr lang="en-US" sz="800" dirty="0"/>
          </a:p>
        </p:txBody>
      </p:sp>
      <p:sp>
        <p:nvSpPr>
          <p:cNvPr id="16" name="Label ANCHOR + AI DOUBLE"/>
          <p:cNvSpPr txBox="1"/>
          <p:nvPr/>
        </p:nvSpPr>
        <p:spPr>
          <a:xfrm>
            <a:off x="9933127" y="2779776"/>
            <a:ext cx="1298448" cy="219456"/>
          </a:xfrm>
          <a:prstGeom prst="roundRect">
            <a:avLst>
              <a:gd name="adj" fmla="val 50000"/>
            </a:avLst>
          </a:prstGeom>
          <a:solidFill>
            <a:srgbClr val="FFFFFF">
              <a:alpha val="92000"/>
            </a:srgbClr>
          </a:solidFill>
          <a:ln/>
        </p:spPr>
        <p:txBody>
          <a:bodyPr wrap="square" lIns="0" tIns="0" rIns="0" bIns="0" rtlCol="0" anchor="ctr"/>
          <a:lstStyle/>
          <a:p>
            <a:pPr algn="ctr" indent="0" marL="0">
              <a:buNone/>
            </a:pPr>
            <a:r>
              <a:rPr lang="en-US" sz="800" b="1" dirty="0">
                <a:solidFill>
                  <a:schemeClr val="tx1"/>
                </a:solidFill>
              </a:rPr>
              <a:t>ANCHOR + AI DOUBLE</a:t>
            </a:r>
            <a:endParaRPr lang="en-US" sz="800" dirty="0"/>
          </a:p>
        </p:txBody>
      </p:sp>
      <p:sp>
        <p:nvSpPr>
          <p:cNvPr id="17" name="Tile - AI studio"/>
          <p:cNvSpPr/>
          <p:nvPr/>
        </p:nvSpPr>
        <p:spPr>
          <a:xfrm>
            <a:off x="4352544" y="3419856"/>
            <a:ext cx="3157423" cy="2011680"/>
          </a:xfrm>
          <a:prstGeom prst="roundRect">
            <a:avLst>
              <a:gd name="adj" fmla="val 9091"/>
            </a:avLst>
          </a:prstGeom>
          <a:solidFill>
            <a:srgbClr val="FFFFFF"/>
          </a:solidFill>
          <a:ln/>
        </p:spPr>
      </p:sp>
      <p:sp>
        <p:nvSpPr>
          <p:cNvPr id="18" name="Text 13"/>
          <p:cNvSpPr txBox="1"/>
          <p:nvPr/>
        </p:nvSpPr>
        <p:spPr>
          <a:xfrm>
            <a:off x="4608576" y="3657600"/>
            <a:ext cx="2645359" cy="329184"/>
          </a:xfrm>
          <a:prstGeom prst="rect">
            <a:avLst/>
          </a:prstGeom>
          <a:noFill/>
          <a:ln/>
        </p:spPr>
        <p:txBody>
          <a:bodyPr wrap="square" lIns="0" tIns="0" rIns="0" bIns="0" rtlCol="0" anchor="t"/>
          <a:lstStyle/>
          <a:p>
            <a:pPr indent="0" marL="0">
              <a:lnSpc>
                <a:spcPct val="95000"/>
              </a:lnSpc>
              <a:buNone/>
            </a:pPr>
            <a:r>
              <a:rPr lang="en-US" sz="1600" b="1" dirty="0">
                <a:solidFill>
                  <a:schemeClr val="tx1"/>
                </a:solidFill>
                <a:latin typeface="Georgia" pitchFamily="34" charset="0"/>
                <a:ea typeface="Georgia" pitchFamily="34" charset="-122"/>
                <a:cs typeface="Georgia" pitchFamily="34" charset="-120"/>
              </a:rPr>
              <a:t>An in-house AI studio</a:t>
            </a:r>
            <a:endParaRPr lang="en-US" sz="1600" dirty="0"/>
          </a:p>
        </p:txBody>
      </p:sp>
      <p:sp>
        <p:nvSpPr>
          <p:cNvPr id="19" name="Text 14"/>
          <p:cNvSpPr txBox="1"/>
          <p:nvPr/>
        </p:nvSpPr>
        <p:spPr>
          <a:xfrm>
            <a:off x="4608576" y="4041648"/>
            <a:ext cx="2700223" cy="621792"/>
          </a:xfrm>
          <a:prstGeom prst="rect">
            <a:avLst/>
          </a:prstGeom>
          <a:noFill/>
          <a:ln/>
        </p:spPr>
        <p:txBody>
          <a:bodyPr wrap="square" lIns="0" tIns="0" rIns="0" bIns="0" rtlCol="0" anchor="t"/>
          <a:lstStyle/>
          <a:p>
            <a:pPr indent="0" marL="0">
              <a:buNone/>
            </a:pPr>
            <a:r>
              <a:rPr lang="en-US" sz="1000" dirty="0">
                <a:solidFill>
                  <a:schemeClr val="tx2"/>
                </a:solidFill>
              </a:rPr>
              <a:t>Voiceovers, video and graphics for TV, digital and live events, made at the speed of news. Even iconic India Today covers since 1975, brought back to life.</a:t>
            </a:r>
            <a:endParaRPr lang="en-US" sz="1000" dirty="0"/>
          </a:p>
        </p:txBody>
      </p:sp>
      <p:sp>
        <p:nvSpPr>
          <p:cNvPr id="20" name="Chip Voiceovers"/>
          <p:cNvSpPr txBox="1"/>
          <p:nvPr/>
        </p:nvSpPr>
        <p:spPr>
          <a:xfrm>
            <a:off x="4608576" y="4736592"/>
            <a:ext cx="676656" cy="256032"/>
          </a:xfrm>
          <a:prstGeom prst="roundRect">
            <a:avLst>
              <a:gd name="adj" fmla="val 50000"/>
            </a:avLst>
          </a:prstGeom>
          <a:solidFill>
            <a:srgbClr val="F1EBFB"/>
          </a:solidFill>
          <a:ln/>
        </p:spPr>
        <p:txBody>
          <a:bodyPr wrap="square" lIns="0" tIns="0" rIns="0" bIns="0" rtlCol="0" anchor="ctr"/>
          <a:lstStyle/>
          <a:p>
            <a:pPr algn="ctr" indent="0" marL="0">
              <a:buNone/>
            </a:pPr>
            <a:r>
              <a:rPr lang="en-US" sz="850" dirty="0">
                <a:solidFill>
                  <a:schemeClr val="accent2"/>
                </a:solidFill>
              </a:rPr>
              <a:t>Voiceovers</a:t>
            </a:r>
            <a:endParaRPr lang="en-US" sz="850" dirty="0"/>
          </a:p>
        </p:txBody>
      </p:sp>
      <p:sp>
        <p:nvSpPr>
          <p:cNvPr id="21" name="Chip Video"/>
          <p:cNvSpPr txBox="1"/>
          <p:nvPr/>
        </p:nvSpPr>
        <p:spPr>
          <a:xfrm>
            <a:off x="5340096" y="4736592"/>
            <a:ext cx="457200" cy="256032"/>
          </a:xfrm>
          <a:prstGeom prst="roundRect">
            <a:avLst>
              <a:gd name="adj" fmla="val 50000"/>
            </a:avLst>
          </a:prstGeom>
          <a:solidFill>
            <a:srgbClr val="F1EBFB"/>
          </a:solidFill>
          <a:ln/>
        </p:spPr>
        <p:txBody>
          <a:bodyPr wrap="square" lIns="0" tIns="0" rIns="0" bIns="0" rtlCol="0" anchor="ctr"/>
          <a:lstStyle/>
          <a:p>
            <a:pPr algn="ctr" indent="0" marL="0">
              <a:buNone/>
            </a:pPr>
            <a:r>
              <a:rPr lang="en-US" sz="850" dirty="0">
                <a:solidFill>
                  <a:schemeClr val="accent2"/>
                </a:solidFill>
              </a:rPr>
              <a:t>Video</a:t>
            </a:r>
            <a:endParaRPr lang="en-US" sz="850" dirty="0"/>
          </a:p>
        </p:txBody>
      </p:sp>
      <p:sp>
        <p:nvSpPr>
          <p:cNvPr id="22" name="Chip Infographics"/>
          <p:cNvSpPr txBox="1"/>
          <p:nvPr/>
        </p:nvSpPr>
        <p:spPr>
          <a:xfrm>
            <a:off x="5852160" y="4736592"/>
            <a:ext cx="768096" cy="256032"/>
          </a:xfrm>
          <a:prstGeom prst="roundRect">
            <a:avLst>
              <a:gd name="adj" fmla="val 50000"/>
            </a:avLst>
          </a:prstGeom>
          <a:solidFill>
            <a:srgbClr val="F1EBFB"/>
          </a:solidFill>
          <a:ln/>
        </p:spPr>
        <p:txBody>
          <a:bodyPr wrap="square" lIns="0" tIns="0" rIns="0" bIns="0" rtlCol="0" anchor="ctr"/>
          <a:lstStyle/>
          <a:p>
            <a:pPr algn="ctr" indent="0" marL="0">
              <a:buNone/>
            </a:pPr>
            <a:r>
              <a:rPr lang="en-US" sz="850" dirty="0">
                <a:solidFill>
                  <a:schemeClr val="accent2"/>
                </a:solidFill>
              </a:rPr>
              <a:t>Infographics</a:t>
            </a:r>
            <a:endParaRPr lang="en-US" sz="850" dirty="0"/>
          </a:p>
        </p:txBody>
      </p:sp>
      <p:sp>
        <p:nvSpPr>
          <p:cNvPr id="23" name="Chip Magazine covers"/>
          <p:cNvSpPr txBox="1"/>
          <p:nvPr/>
        </p:nvSpPr>
        <p:spPr>
          <a:xfrm>
            <a:off x="4608576" y="5038344"/>
            <a:ext cx="1005840" cy="256032"/>
          </a:xfrm>
          <a:prstGeom prst="roundRect">
            <a:avLst>
              <a:gd name="adj" fmla="val 50000"/>
            </a:avLst>
          </a:prstGeom>
          <a:solidFill>
            <a:srgbClr val="F1EBFB"/>
          </a:solidFill>
          <a:ln/>
        </p:spPr>
        <p:txBody>
          <a:bodyPr wrap="square" lIns="0" tIns="0" rIns="0" bIns="0" rtlCol="0" anchor="ctr"/>
          <a:lstStyle/>
          <a:p>
            <a:pPr algn="ctr" indent="0" marL="0">
              <a:buNone/>
            </a:pPr>
            <a:r>
              <a:rPr lang="en-US" sz="850" dirty="0">
                <a:solidFill>
                  <a:schemeClr val="accent2"/>
                </a:solidFill>
              </a:rPr>
              <a:t>Magazine covers</a:t>
            </a:r>
            <a:endParaRPr lang="en-US" sz="850" dirty="0"/>
          </a:p>
        </p:txBody>
      </p:sp>
      <p:sp>
        <p:nvSpPr>
          <p:cNvPr id="24" name="Chip Illustrations"/>
          <p:cNvSpPr txBox="1"/>
          <p:nvPr/>
        </p:nvSpPr>
        <p:spPr>
          <a:xfrm>
            <a:off x="5669280" y="5038344"/>
            <a:ext cx="749808" cy="256032"/>
          </a:xfrm>
          <a:prstGeom prst="roundRect">
            <a:avLst>
              <a:gd name="adj" fmla="val 50000"/>
            </a:avLst>
          </a:prstGeom>
          <a:solidFill>
            <a:srgbClr val="F1EBFB"/>
          </a:solidFill>
          <a:ln/>
        </p:spPr>
        <p:txBody>
          <a:bodyPr wrap="square" lIns="0" tIns="0" rIns="0" bIns="0" rtlCol="0" anchor="ctr"/>
          <a:lstStyle/>
          <a:p>
            <a:pPr algn="ctr" indent="0" marL="0">
              <a:buNone/>
            </a:pPr>
            <a:r>
              <a:rPr lang="en-US" sz="850" dirty="0">
                <a:solidFill>
                  <a:schemeClr val="accent2"/>
                </a:solidFill>
              </a:rPr>
              <a:t>Illustrations</a:t>
            </a:r>
            <a:endParaRPr lang="en-US" sz="850" dirty="0"/>
          </a:p>
        </p:txBody>
      </p:sp>
      <p:sp>
        <p:nvSpPr>
          <p:cNvPr id="25" name="Chip Fashion shows"/>
          <p:cNvSpPr txBox="1"/>
          <p:nvPr/>
        </p:nvSpPr>
        <p:spPr>
          <a:xfrm>
            <a:off x="6473952" y="5038344"/>
            <a:ext cx="841248" cy="256032"/>
          </a:xfrm>
          <a:prstGeom prst="roundRect">
            <a:avLst>
              <a:gd name="adj" fmla="val 50000"/>
            </a:avLst>
          </a:prstGeom>
          <a:solidFill>
            <a:srgbClr val="F1EBFB"/>
          </a:solidFill>
          <a:ln/>
        </p:spPr>
        <p:txBody>
          <a:bodyPr wrap="square" lIns="0" tIns="0" rIns="0" bIns="0" rtlCol="0" anchor="ctr"/>
          <a:lstStyle/>
          <a:p>
            <a:pPr algn="ctr" indent="0" marL="0">
              <a:buNone/>
            </a:pPr>
            <a:r>
              <a:rPr lang="en-US" sz="850" dirty="0">
                <a:solidFill>
                  <a:schemeClr val="accent2"/>
                </a:solidFill>
              </a:rPr>
              <a:t>Fashion shows</a:t>
            </a:r>
            <a:endParaRPr lang="en-US" sz="850" dirty="0"/>
          </a:p>
        </p:txBody>
      </p:sp>
      <p:sp>
        <p:nvSpPr>
          <p:cNvPr id="26" name="Tile - landmark AI stories"/>
          <p:cNvSpPr/>
          <p:nvPr/>
        </p:nvSpPr>
        <p:spPr>
          <a:xfrm>
            <a:off x="7656271" y="3419856"/>
            <a:ext cx="4169664" cy="2011680"/>
          </a:xfrm>
          <a:prstGeom prst="roundRect">
            <a:avLst>
              <a:gd name="adj" fmla="val 9091"/>
            </a:avLst>
          </a:prstGeom>
          <a:solidFill>
            <a:srgbClr val="FFFFFF"/>
          </a:solidFill>
          <a:ln/>
        </p:spPr>
      </p:sp>
      <p:sp>
        <p:nvSpPr>
          <p:cNvPr id="27" name="Text 22"/>
          <p:cNvSpPr txBox="1"/>
          <p:nvPr/>
        </p:nvSpPr>
        <p:spPr>
          <a:xfrm>
            <a:off x="7839151" y="3602736"/>
            <a:ext cx="3803904" cy="310896"/>
          </a:xfrm>
          <a:prstGeom prst="rect">
            <a:avLst/>
          </a:prstGeom>
          <a:noFill/>
          <a:ln/>
        </p:spPr>
        <p:txBody>
          <a:bodyPr wrap="square" lIns="0" tIns="0" rIns="0" bIns="0" rtlCol="0" anchor="t"/>
          <a:lstStyle/>
          <a:p>
            <a:pPr indent="0" marL="0">
              <a:lnSpc>
                <a:spcPct val="95000"/>
              </a:lnSpc>
              <a:buNone/>
            </a:pPr>
            <a:r>
              <a:rPr lang="en-US" sz="1600" b="1" dirty="0">
                <a:solidFill>
                  <a:schemeClr val="tx1"/>
                </a:solidFill>
                <a:latin typeface="Georgia" pitchFamily="34" charset="0"/>
                <a:ea typeface="Georgia" pitchFamily="34" charset="-122"/>
                <a:cs typeface="Georgia" pitchFamily="34" charset="-120"/>
              </a:rPr>
              <a:t>Stories only AI could tell</a:t>
            </a:r>
            <a:endParaRPr lang="en-US" sz="1600" dirty="0"/>
          </a:p>
        </p:txBody>
      </p:sp>
      <p:pic>
        <p:nvPicPr>
          <p:cNvPr id="28" name="Operation Sindoor image" descr="/tmp/claude-0/-home-user-nayak/e234e072-51fc-5a89-bcc1-7181d2d8a173/scratchpad/build/assets/u_sindoor.png">    </p:cNvPr>
          <p:cNvPicPr>
            <a:picLocks noChangeAspect="1"/>
          </p:cNvPicPr>
          <p:nvPr/>
        </p:nvPicPr>
        <p:blipFill>
          <a:blip r:embed="rId4"/>
          <a:stretch>
            <a:fillRect/>
          </a:stretch>
        </p:blipFill>
        <p:spPr>
          <a:xfrm>
            <a:off x="7839151" y="3968496"/>
            <a:ext cx="1828800" cy="731520"/>
          </a:xfrm>
          <a:prstGeom prst="rect">
            <a:avLst/>
          </a:prstGeom>
        </p:spPr>
      </p:pic>
      <p:sp>
        <p:nvSpPr>
          <p:cNvPr id="29" name="Text 23"/>
          <p:cNvSpPr txBox="1"/>
          <p:nvPr/>
        </p:nvSpPr>
        <p:spPr>
          <a:xfrm>
            <a:off x="7839151" y="4773168"/>
            <a:ext cx="1828800" cy="219456"/>
          </a:xfrm>
          <a:prstGeom prst="rect">
            <a:avLst/>
          </a:prstGeom>
          <a:noFill/>
          <a:ln/>
        </p:spPr>
        <p:txBody>
          <a:bodyPr wrap="square" lIns="0" tIns="0" rIns="0" bIns="0" rtlCol="0" anchor="t"/>
          <a:lstStyle/>
          <a:p>
            <a:pPr indent="0" marL="0">
              <a:lnSpc>
                <a:spcPct val="95000"/>
              </a:lnSpc>
              <a:buNone/>
            </a:pPr>
            <a:r>
              <a:rPr lang="en-US" sz="1150" b="1" dirty="0">
                <a:solidFill>
                  <a:schemeClr val="tx1"/>
                </a:solidFill>
                <a:latin typeface="Georgia" pitchFamily="34" charset="0"/>
                <a:ea typeface="Georgia" pitchFamily="34" charset="-122"/>
                <a:cs typeface="Georgia" pitchFamily="34" charset="-120"/>
              </a:rPr>
              <a:t>Operation Sindoor</a:t>
            </a:r>
            <a:endParaRPr lang="en-US" sz="1150" dirty="0"/>
          </a:p>
        </p:txBody>
      </p:sp>
      <p:sp>
        <p:nvSpPr>
          <p:cNvPr id="30" name="Text 24"/>
          <p:cNvSpPr txBox="1"/>
          <p:nvPr/>
        </p:nvSpPr>
        <p:spPr>
          <a:xfrm>
            <a:off x="7839151" y="4992624"/>
            <a:ext cx="1828800" cy="402336"/>
          </a:xfrm>
          <a:prstGeom prst="rect">
            <a:avLst/>
          </a:prstGeom>
          <a:noFill/>
          <a:ln/>
        </p:spPr>
        <p:txBody>
          <a:bodyPr wrap="square" lIns="0" tIns="0" rIns="0" bIns="0" rtlCol="0" anchor="t"/>
          <a:lstStyle/>
          <a:p>
            <a:pPr indent="0" marL="0">
              <a:buNone/>
            </a:pPr>
            <a:r>
              <a:rPr lang="en-US" sz="900" dirty="0">
                <a:solidFill>
                  <a:schemeClr val="tx2"/>
                </a:solidFill>
              </a:rPr>
              <a:t>The first fully AI-made film</a:t>
            </a:r>
            <a:endParaRPr lang="en-US" sz="900" dirty="0"/>
          </a:p>
          <a:p>
            <a:pPr indent="0" marL="0">
              <a:buNone/>
            </a:pPr>
            <a:r>
              <a:rPr lang="en-US" sz="900" dirty="0">
                <a:solidFill>
                  <a:schemeClr val="tx2"/>
                </a:solidFill>
              </a:rPr>
              <a:t>in Indian news media, May 2025.</a:t>
            </a:r>
            <a:endParaRPr lang="en-US" sz="900" dirty="0"/>
          </a:p>
        </p:txBody>
      </p:sp>
      <p:pic>
        <p:nvPicPr>
          <p:cNvPr id="31" name="The national anthem image" descr="/tmp/claude-0/-home-user-nayak/e234e072-51fc-5a89-bcc1-7181d2d8a173/scratchpad/build/assets/u_anthem.png">    </p:cNvPr>
          <p:cNvPicPr>
            <a:picLocks noChangeAspect="1"/>
          </p:cNvPicPr>
          <p:nvPr/>
        </p:nvPicPr>
        <p:blipFill>
          <a:blip r:embed="rId5"/>
          <a:stretch>
            <a:fillRect/>
          </a:stretch>
        </p:blipFill>
        <p:spPr>
          <a:xfrm>
            <a:off x="9814255" y="3968496"/>
            <a:ext cx="1828800" cy="731520"/>
          </a:xfrm>
          <a:prstGeom prst="rect">
            <a:avLst/>
          </a:prstGeom>
        </p:spPr>
      </p:pic>
      <p:sp>
        <p:nvSpPr>
          <p:cNvPr id="32" name="Text 25"/>
          <p:cNvSpPr txBox="1"/>
          <p:nvPr/>
        </p:nvSpPr>
        <p:spPr>
          <a:xfrm>
            <a:off x="9814255" y="4773168"/>
            <a:ext cx="1828800" cy="219456"/>
          </a:xfrm>
          <a:prstGeom prst="rect">
            <a:avLst/>
          </a:prstGeom>
          <a:noFill/>
          <a:ln/>
        </p:spPr>
        <p:txBody>
          <a:bodyPr wrap="square" lIns="0" tIns="0" rIns="0" bIns="0" rtlCol="0" anchor="t"/>
          <a:lstStyle/>
          <a:p>
            <a:pPr indent="0" marL="0">
              <a:lnSpc>
                <a:spcPct val="95000"/>
              </a:lnSpc>
              <a:buNone/>
            </a:pPr>
            <a:r>
              <a:rPr lang="en-US" sz="1150" b="1" dirty="0">
                <a:solidFill>
                  <a:schemeClr val="tx1"/>
                </a:solidFill>
                <a:latin typeface="Georgia" pitchFamily="34" charset="0"/>
                <a:ea typeface="Georgia" pitchFamily="34" charset="-122"/>
                <a:cs typeface="Georgia" pitchFamily="34" charset="-120"/>
              </a:rPr>
              <a:t>The national anthem</a:t>
            </a:r>
            <a:endParaRPr lang="en-US" sz="1150" dirty="0"/>
          </a:p>
        </p:txBody>
      </p:sp>
      <p:sp>
        <p:nvSpPr>
          <p:cNvPr id="33" name="Text 26"/>
          <p:cNvSpPr txBox="1"/>
          <p:nvPr/>
        </p:nvSpPr>
        <p:spPr>
          <a:xfrm>
            <a:off x="9814255" y="4992624"/>
            <a:ext cx="1828800" cy="402336"/>
          </a:xfrm>
          <a:prstGeom prst="rect">
            <a:avLst/>
          </a:prstGeom>
          <a:noFill/>
          <a:ln/>
        </p:spPr>
        <p:txBody>
          <a:bodyPr wrap="square" lIns="0" tIns="0" rIns="0" bIns="0" rtlCol="0" anchor="t"/>
          <a:lstStyle/>
          <a:p>
            <a:pPr indent="0" marL="0">
              <a:buNone/>
            </a:pPr>
            <a:r>
              <a:rPr lang="en-US" sz="900" dirty="0">
                <a:solidFill>
                  <a:schemeClr val="tx2"/>
                </a:solidFill>
              </a:rPr>
              <a:t>Sung by India's freedom fighters, recreated by AI.</a:t>
            </a:r>
            <a:endParaRPr lang="en-US" sz="900" dirty="0"/>
          </a:p>
        </p:txBody>
      </p:sp>
      <p:sp>
        <p:nvSpPr>
          <p:cNvPr id="34" name="Tile - AI CMS"/>
          <p:cNvSpPr/>
          <p:nvPr/>
        </p:nvSpPr>
        <p:spPr>
          <a:xfrm>
            <a:off x="365760" y="5577840"/>
            <a:ext cx="2834640" cy="932688"/>
          </a:xfrm>
          <a:prstGeom prst="roundRect">
            <a:avLst>
              <a:gd name="adj" fmla="val 19608"/>
            </a:avLst>
          </a:prstGeom>
          <a:solidFill>
            <a:srgbClr val="FFFFFF"/>
          </a:solidFill>
          <a:ln/>
        </p:spPr>
      </p:sp>
      <p:sp>
        <p:nvSpPr>
          <p:cNvPr id="35" name="CMS disc"/>
          <p:cNvSpPr/>
          <p:nvPr/>
        </p:nvSpPr>
        <p:spPr>
          <a:xfrm>
            <a:off x="594360" y="5788152"/>
            <a:ext cx="512064" cy="512064"/>
          </a:xfrm>
          <a:prstGeom prst="ellipse">
            <a:avLst/>
          </a:prstGeom>
          <a:solidFill>
            <a:srgbClr val="E3F4F1"/>
          </a:solidFill>
          <a:ln/>
        </p:spPr>
      </p:sp>
      <p:pic>
        <p:nvPicPr>
          <p:cNvPr id="36" name="CMS icon" descr="preencoded.png">    </p:cNvPr>
          <p:cNvPicPr>
            <a:picLocks noChangeAspect="1"/>
          </p:cNvPicPr>
          <p:nvPr/>
        </p:nvPicPr>
        <p:blipFill>
          <a:blip r:embed="rId6"/>
          <a:stretch>
            <a:fillRect/>
          </a:stretch>
        </p:blipFill>
        <p:spPr>
          <a:xfrm>
            <a:off x="713232" y="5907024"/>
            <a:ext cx="274320" cy="274320"/>
          </a:xfrm>
          <a:prstGeom prst="rect">
            <a:avLst/>
          </a:prstGeom>
        </p:spPr>
      </p:pic>
      <p:sp>
        <p:nvSpPr>
          <p:cNvPr id="37" name="Text 29"/>
          <p:cNvSpPr txBox="1"/>
          <p:nvPr/>
        </p:nvSpPr>
        <p:spPr>
          <a:xfrm>
            <a:off x="1280160" y="5760720"/>
            <a:ext cx="1783080" cy="256032"/>
          </a:xfrm>
          <a:prstGeom prst="rect">
            <a:avLst/>
          </a:prstGeom>
          <a:noFill/>
          <a:ln/>
        </p:spPr>
        <p:txBody>
          <a:bodyPr wrap="square" lIns="0" tIns="0" rIns="0" bIns="0" rtlCol="0" anchor="t"/>
          <a:lstStyle/>
          <a:p>
            <a:pPr indent="0" marL="0">
              <a:lnSpc>
                <a:spcPct val="95000"/>
              </a:lnSpc>
              <a:buNone/>
            </a:pPr>
            <a:r>
              <a:rPr lang="en-US" sz="1350" b="1" dirty="0">
                <a:solidFill>
                  <a:schemeClr val="tx1"/>
                </a:solidFill>
                <a:latin typeface="Georgia" pitchFamily="34" charset="0"/>
                <a:ea typeface="Georgia" pitchFamily="34" charset="-122"/>
                <a:cs typeface="Georgia" pitchFamily="34" charset="-120"/>
              </a:rPr>
              <a:t>AI-enabled CMS</a:t>
            </a:r>
            <a:endParaRPr lang="en-US" sz="1350" dirty="0"/>
          </a:p>
        </p:txBody>
      </p:sp>
      <p:sp>
        <p:nvSpPr>
          <p:cNvPr id="38" name="Text 30"/>
          <p:cNvSpPr txBox="1"/>
          <p:nvPr/>
        </p:nvSpPr>
        <p:spPr>
          <a:xfrm>
            <a:off x="1280160" y="6053328"/>
            <a:ext cx="1783080" cy="365760"/>
          </a:xfrm>
          <a:prstGeom prst="rect">
            <a:avLst/>
          </a:prstGeom>
          <a:noFill/>
          <a:ln/>
        </p:spPr>
        <p:txBody>
          <a:bodyPr wrap="square" lIns="0" tIns="0" rIns="0" bIns="0" rtlCol="0" anchor="t"/>
          <a:lstStyle/>
          <a:p>
            <a:pPr indent="0" marL="0">
              <a:buNone/>
            </a:pPr>
            <a:r>
              <a:rPr lang="en-US" sz="950" dirty="0">
                <a:solidFill>
                  <a:schemeClr val="tx2"/>
                </a:solidFill>
              </a:rPr>
              <a:t>Faster creation and delivery on every platform.</a:t>
            </a:r>
            <a:endParaRPr lang="en-US" sz="950" dirty="0"/>
          </a:p>
        </p:txBody>
      </p:sp>
      <p:sp>
        <p:nvSpPr>
          <p:cNvPr id="39" name="Tile - automation"/>
          <p:cNvSpPr/>
          <p:nvPr/>
        </p:nvSpPr>
        <p:spPr>
          <a:xfrm>
            <a:off x="3346704" y="5577840"/>
            <a:ext cx="5406847" cy="932688"/>
          </a:xfrm>
          <a:prstGeom prst="roundRect">
            <a:avLst>
              <a:gd name="adj" fmla="val 19608"/>
            </a:avLst>
          </a:prstGeom>
          <a:solidFill>
            <a:srgbClr val="FFFFFF"/>
          </a:solidFill>
          <a:ln/>
        </p:spPr>
      </p:sp>
      <p:sp>
        <p:nvSpPr>
          <p:cNvPr id="40" name="Text 32"/>
          <p:cNvSpPr txBox="1"/>
          <p:nvPr/>
        </p:nvSpPr>
        <p:spPr>
          <a:xfrm>
            <a:off x="3602736" y="5760720"/>
            <a:ext cx="2743200" cy="256032"/>
          </a:xfrm>
          <a:prstGeom prst="rect">
            <a:avLst/>
          </a:prstGeom>
          <a:noFill/>
          <a:ln/>
        </p:spPr>
        <p:txBody>
          <a:bodyPr wrap="square" lIns="0" tIns="0" rIns="0" bIns="0" rtlCol="0" anchor="t"/>
          <a:lstStyle/>
          <a:p>
            <a:pPr indent="0" marL="0">
              <a:lnSpc>
                <a:spcPct val="95000"/>
              </a:lnSpc>
              <a:buNone/>
            </a:pPr>
            <a:r>
              <a:rPr lang="en-US" sz="1350" b="1" dirty="0">
                <a:solidFill>
                  <a:schemeClr val="tx1"/>
                </a:solidFill>
                <a:latin typeface="Georgia" pitchFamily="34" charset="0"/>
                <a:ea typeface="Georgia" pitchFamily="34" charset="-122"/>
                <a:cs typeface="Georgia" pitchFamily="34" charset="-120"/>
              </a:rPr>
              <a:t>Routine updates, on autopilot</a:t>
            </a:r>
            <a:endParaRPr lang="en-US" sz="1350" dirty="0"/>
          </a:p>
        </p:txBody>
      </p:sp>
      <p:sp>
        <p:nvSpPr>
          <p:cNvPr id="41" name="Text 33"/>
          <p:cNvSpPr txBox="1"/>
          <p:nvPr/>
        </p:nvSpPr>
        <p:spPr>
          <a:xfrm>
            <a:off x="3602736" y="6053328"/>
            <a:ext cx="2606040" cy="365760"/>
          </a:xfrm>
          <a:prstGeom prst="rect">
            <a:avLst/>
          </a:prstGeom>
          <a:noFill/>
          <a:ln/>
        </p:spPr>
        <p:txBody>
          <a:bodyPr wrap="square" lIns="0" tIns="0" rIns="0" bIns="0" rtlCol="0" anchor="t"/>
          <a:lstStyle/>
          <a:p>
            <a:pPr indent="0" marL="0">
              <a:buNone/>
            </a:pPr>
            <a:r>
              <a:rPr lang="en-US" sz="950" dirty="0">
                <a:solidFill>
                  <a:schemeClr val="tx2"/>
                </a:solidFill>
              </a:rPr>
              <a:t>AI handles the repetitive, so journalists can focus on context and judgment.</a:t>
            </a:r>
            <a:endParaRPr lang="en-US" sz="950" dirty="0"/>
          </a:p>
        </p:txBody>
      </p:sp>
      <p:pic>
        <p:nvPicPr>
          <p:cNvPr id="42" name="Weather icon" descr="preencoded.png">    </p:cNvPr>
          <p:cNvPicPr>
            <a:picLocks noChangeAspect="1"/>
          </p:cNvPicPr>
          <p:nvPr/>
        </p:nvPicPr>
        <p:blipFill>
          <a:blip r:embed="rId7"/>
          <a:stretch>
            <a:fillRect/>
          </a:stretch>
        </p:blipFill>
        <p:spPr>
          <a:xfrm>
            <a:off x="6493726" y="5760720"/>
            <a:ext cx="310896" cy="310896"/>
          </a:xfrm>
          <a:prstGeom prst="rect">
            <a:avLst/>
          </a:prstGeom>
        </p:spPr>
      </p:pic>
      <p:sp>
        <p:nvSpPr>
          <p:cNvPr id="43" name="Text 34"/>
          <p:cNvSpPr txBox="1"/>
          <p:nvPr/>
        </p:nvSpPr>
        <p:spPr>
          <a:xfrm>
            <a:off x="6364224" y="6126480"/>
            <a:ext cx="569900" cy="329184"/>
          </a:xfrm>
          <a:prstGeom prst="rect">
            <a:avLst/>
          </a:prstGeom>
          <a:noFill/>
          <a:ln/>
        </p:spPr>
        <p:txBody>
          <a:bodyPr wrap="square" lIns="0" tIns="0" rIns="0" bIns="0" rtlCol="0" anchor="t"/>
          <a:lstStyle/>
          <a:p>
            <a:pPr algn="ctr" indent="0" marL="0">
              <a:buNone/>
            </a:pPr>
            <a:r>
              <a:rPr lang="en-US" sz="850" dirty="0">
                <a:solidFill>
                  <a:schemeClr val="tx1"/>
                </a:solidFill>
              </a:rPr>
              <a:t>Weather</a:t>
            </a:r>
            <a:endParaRPr lang="en-US" sz="850" dirty="0"/>
          </a:p>
        </p:txBody>
      </p:sp>
      <p:pic>
        <p:nvPicPr>
          <p:cNvPr id="44" name="Air quality icon" descr="preencoded.png">    </p:cNvPr>
          <p:cNvPicPr>
            <a:picLocks noChangeAspect="1"/>
          </p:cNvPicPr>
          <p:nvPr/>
        </p:nvPicPr>
        <p:blipFill>
          <a:blip r:embed="rId8"/>
          <a:stretch>
            <a:fillRect/>
          </a:stretch>
        </p:blipFill>
        <p:spPr>
          <a:xfrm>
            <a:off x="7063626" y="5760720"/>
            <a:ext cx="310896" cy="310896"/>
          </a:xfrm>
          <a:prstGeom prst="rect">
            <a:avLst/>
          </a:prstGeom>
        </p:spPr>
      </p:pic>
      <p:sp>
        <p:nvSpPr>
          <p:cNvPr id="45" name="Text 35"/>
          <p:cNvSpPr txBox="1"/>
          <p:nvPr/>
        </p:nvSpPr>
        <p:spPr>
          <a:xfrm>
            <a:off x="6934124" y="6126480"/>
            <a:ext cx="569900" cy="329184"/>
          </a:xfrm>
          <a:prstGeom prst="rect">
            <a:avLst/>
          </a:prstGeom>
          <a:noFill/>
          <a:ln/>
        </p:spPr>
        <p:txBody>
          <a:bodyPr wrap="square" lIns="0" tIns="0" rIns="0" bIns="0" rtlCol="0" anchor="t"/>
          <a:lstStyle/>
          <a:p>
            <a:pPr algn="ctr" indent="0" marL="0">
              <a:buNone/>
            </a:pPr>
            <a:r>
              <a:rPr lang="en-US" sz="850" dirty="0">
                <a:solidFill>
                  <a:schemeClr val="tx1"/>
                </a:solidFill>
              </a:rPr>
              <a:t>Air</a:t>
            </a:r>
            <a:endParaRPr lang="en-US" sz="850" dirty="0"/>
          </a:p>
          <a:p>
            <a:pPr algn="ctr" indent="0" marL="0">
              <a:buNone/>
            </a:pPr>
            <a:r>
              <a:rPr lang="en-US" sz="850" dirty="0">
                <a:solidFill>
                  <a:schemeClr val="tx1"/>
                </a:solidFill>
              </a:rPr>
              <a:t>quality</a:t>
            </a:r>
            <a:endParaRPr lang="en-US" sz="850" dirty="0"/>
          </a:p>
        </p:txBody>
      </p:sp>
      <p:pic>
        <p:nvPicPr>
          <p:cNvPr id="46" name="Fuel prices icon" descr="preencoded.png">    </p:cNvPr>
          <p:cNvPicPr>
            <a:picLocks noChangeAspect="1"/>
          </p:cNvPicPr>
          <p:nvPr/>
        </p:nvPicPr>
        <p:blipFill>
          <a:blip r:embed="rId9"/>
          <a:stretch>
            <a:fillRect/>
          </a:stretch>
        </p:blipFill>
        <p:spPr>
          <a:xfrm>
            <a:off x="7633526" y="5760720"/>
            <a:ext cx="310896" cy="310896"/>
          </a:xfrm>
          <a:prstGeom prst="rect">
            <a:avLst/>
          </a:prstGeom>
        </p:spPr>
      </p:pic>
      <p:sp>
        <p:nvSpPr>
          <p:cNvPr id="47" name="Text 36"/>
          <p:cNvSpPr txBox="1"/>
          <p:nvPr/>
        </p:nvSpPr>
        <p:spPr>
          <a:xfrm>
            <a:off x="7504024" y="6126480"/>
            <a:ext cx="569900" cy="329184"/>
          </a:xfrm>
          <a:prstGeom prst="rect">
            <a:avLst/>
          </a:prstGeom>
          <a:noFill/>
          <a:ln/>
        </p:spPr>
        <p:txBody>
          <a:bodyPr wrap="square" lIns="0" tIns="0" rIns="0" bIns="0" rtlCol="0" anchor="t"/>
          <a:lstStyle/>
          <a:p>
            <a:pPr algn="ctr" indent="0" marL="0">
              <a:buNone/>
            </a:pPr>
            <a:r>
              <a:rPr lang="en-US" sz="850" dirty="0">
                <a:solidFill>
                  <a:schemeClr val="tx1"/>
                </a:solidFill>
              </a:rPr>
              <a:t>Fuel</a:t>
            </a:r>
            <a:endParaRPr lang="en-US" sz="850" dirty="0"/>
          </a:p>
          <a:p>
            <a:pPr algn="ctr" indent="0" marL="0">
              <a:buNone/>
            </a:pPr>
            <a:r>
              <a:rPr lang="en-US" sz="850" dirty="0">
                <a:solidFill>
                  <a:schemeClr val="tx1"/>
                </a:solidFill>
              </a:rPr>
              <a:t>prices</a:t>
            </a:r>
            <a:endParaRPr lang="en-US" sz="850" dirty="0"/>
          </a:p>
        </p:txBody>
      </p:sp>
      <p:pic>
        <p:nvPicPr>
          <p:cNvPr id="48" name="Commodity rates icon" descr="preencoded.png">    </p:cNvPr>
          <p:cNvPicPr>
            <a:picLocks noChangeAspect="1"/>
          </p:cNvPicPr>
          <p:nvPr/>
        </p:nvPicPr>
        <p:blipFill>
          <a:blip r:embed="rId10"/>
          <a:stretch>
            <a:fillRect/>
          </a:stretch>
        </p:blipFill>
        <p:spPr>
          <a:xfrm>
            <a:off x="8203425" y="5760720"/>
            <a:ext cx="310896" cy="310896"/>
          </a:xfrm>
          <a:prstGeom prst="rect">
            <a:avLst/>
          </a:prstGeom>
        </p:spPr>
      </p:pic>
      <p:sp>
        <p:nvSpPr>
          <p:cNvPr id="49" name="Text 37"/>
          <p:cNvSpPr txBox="1"/>
          <p:nvPr/>
        </p:nvSpPr>
        <p:spPr>
          <a:xfrm>
            <a:off x="8073923" y="6126480"/>
            <a:ext cx="569900" cy="329184"/>
          </a:xfrm>
          <a:prstGeom prst="rect">
            <a:avLst/>
          </a:prstGeom>
          <a:noFill/>
          <a:ln/>
        </p:spPr>
        <p:txBody>
          <a:bodyPr wrap="square" lIns="0" tIns="0" rIns="0" bIns="0" rtlCol="0" anchor="t"/>
          <a:lstStyle/>
          <a:p>
            <a:pPr algn="ctr" indent="0" marL="0">
              <a:buNone/>
            </a:pPr>
            <a:r>
              <a:rPr lang="en-US" sz="850" dirty="0">
                <a:solidFill>
                  <a:schemeClr val="tx1"/>
                </a:solidFill>
              </a:rPr>
              <a:t>Commodity</a:t>
            </a:r>
            <a:endParaRPr lang="en-US" sz="850" dirty="0"/>
          </a:p>
          <a:p>
            <a:pPr algn="ctr" indent="0" marL="0">
              <a:buNone/>
            </a:pPr>
            <a:r>
              <a:rPr lang="en-US" sz="850" dirty="0">
                <a:solidFill>
                  <a:schemeClr val="tx1"/>
                </a:solidFill>
              </a:rPr>
              <a:t>rates</a:t>
            </a:r>
            <a:endParaRPr lang="en-US" sz="850" dirty="0"/>
          </a:p>
        </p:txBody>
      </p:sp>
      <p:sp>
        <p:nvSpPr>
          <p:cNvPr id="50" name="Tile - commitment"/>
          <p:cNvSpPr/>
          <p:nvPr/>
        </p:nvSpPr>
        <p:spPr>
          <a:xfrm>
            <a:off x="8899855" y="5577840"/>
            <a:ext cx="2926080" cy="932688"/>
          </a:xfrm>
          <a:prstGeom prst="roundRect">
            <a:avLst>
              <a:gd name="adj" fmla="val 19608"/>
            </a:avLst>
          </a:prstGeom>
          <a:solidFill>
            <a:srgbClr val="1D1D1F"/>
          </a:solidFill>
          <a:ln/>
        </p:spPr>
      </p:sp>
      <p:sp>
        <p:nvSpPr>
          <p:cNvPr id="51" name="Text 39"/>
          <p:cNvSpPr txBox="1"/>
          <p:nvPr/>
        </p:nvSpPr>
        <p:spPr>
          <a:xfrm>
            <a:off x="9155887" y="5705856"/>
            <a:ext cx="2468880" cy="420624"/>
          </a:xfrm>
          <a:prstGeom prst="rect">
            <a:avLst/>
          </a:prstGeom>
          <a:noFill/>
          <a:ln/>
        </p:spPr>
        <p:txBody>
          <a:bodyPr wrap="square" lIns="0" tIns="0" rIns="0" bIns="0" rtlCol="0" anchor="t"/>
          <a:lstStyle/>
          <a:p>
            <a:pPr indent="0" marL="0">
              <a:lnSpc>
                <a:spcPct val="95000"/>
              </a:lnSpc>
              <a:buNone/>
            </a:pPr>
            <a:r>
              <a:rPr lang="en-US" sz="1250" b="1" dirty="0">
                <a:solidFill>
                  <a:schemeClr val="bg1"/>
                </a:solidFill>
                <a:latin typeface="Georgia" pitchFamily="34" charset="0"/>
                <a:ea typeface="Georgia" pitchFamily="34" charset="-122"/>
                <a:cs typeface="Georgia" pitchFamily="34" charset="-120"/>
              </a:rPr>
              <a:t>Truth and credibility stay at the heart of it.</a:t>
            </a:r>
            <a:endParaRPr lang="en-US" sz="1250" dirty="0"/>
          </a:p>
        </p:txBody>
      </p:sp>
      <p:sp>
        <p:nvSpPr>
          <p:cNvPr id="52" name="Text 40"/>
          <p:cNvSpPr txBox="1"/>
          <p:nvPr/>
        </p:nvSpPr>
        <p:spPr>
          <a:xfrm>
            <a:off x="9155887" y="6181344"/>
            <a:ext cx="2560320" cy="219456"/>
          </a:xfrm>
          <a:prstGeom prst="rect">
            <a:avLst/>
          </a:prstGeom>
          <a:noFill/>
          <a:ln/>
        </p:spPr>
        <p:txBody>
          <a:bodyPr wrap="square" lIns="0" tIns="0" rIns="0" bIns="0" rtlCol="0" anchor="t"/>
          <a:lstStyle/>
          <a:p>
            <a:pPr indent="0" marL="0">
              <a:buNone/>
            </a:pPr>
            <a:r>
              <a:rPr lang="en-US" sz="950" dirty="0">
                <a:solidFill>
                  <a:srgbClr val="C7C7CC"/>
                </a:solidFill>
              </a:rPr>
              <a:t>A 50-year legacy, gearing up for the </a:t>
            </a:r>
            <a:pPr indent="0" marL="0">
              <a:buNone/>
            </a:pPr>
            <a:r>
              <a:rPr lang="en-US" sz="950" b="1" dirty="0">
                <a:solidFill>
                  <a:srgbClr val="FF6B6F"/>
                </a:solidFill>
              </a:rPr>
              <a:t>next 50.</a:t>
            </a:r>
            <a:endParaRPr lang="en-US" sz="950" dirty="0"/>
          </a:p>
        </p:txBody>
      </p:sp>
    </p:spTree>
  </p:cSld>
  <p:clrMapOvr>
    <a:masterClrMapping/>
  </p:clrMapOvr>
</p:sld>
</file>

<file path=ppt/theme/theme1.xml><?xml version="1.0" encoding="utf-8"?>
<a:theme xmlns:a="http://schemas.openxmlformats.org/drawingml/2006/main" name="India Today AI Bento">
  <a:themeElements>
    <a:clrScheme name="India Today AI Bento">
      <a:dk1>
        <a:srgbClr val="1D1D1F"/>
      </a:dk1>
      <a:lt1>
        <a:srgbClr val="FFFFFF"/>
      </a:lt1>
      <a:dk2>
        <a:srgbClr val="6E6E73"/>
      </a:dk2>
      <a:lt2>
        <a:srgbClr val="F2F2F5"/>
      </a:lt2>
      <a:accent1>
        <a:srgbClr val="E31E24"/>
      </a:accent1>
      <a:accent2>
        <a:srgbClr val="7A3BD0"/>
      </a:accent2>
      <a:accent3>
        <a:srgbClr val="D9480F"/>
      </a:accent3>
      <a:accent4>
        <a:srgbClr val="0E8F7E"/>
      </a:accent4>
      <a:accent5>
        <a:srgbClr val="E6E6EB"/>
      </a:accent5>
      <a:accent6>
        <a:srgbClr val="FFF3F3"/>
      </a:accent6>
      <a:hlink>
        <a:srgbClr val="E31E24"/>
      </a:hlink>
      <a:folHlink>
        <a:srgbClr val="6E6E73"/>
      </a:folHlink>
    </a:clrScheme>
    <a:fontScheme name="India Today AI Bent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India Today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at India Today Group — at a glance</dc:title>
  <dc:subject>PptxGenJS Presentation</dc:subject>
  <dc:creator>India Today Group</dc:creator>
  <cp:lastModifiedBy>India Today Group</cp:lastModifiedBy>
  <cp:revision>1</cp:revision>
  <dcterms:created xsi:type="dcterms:W3CDTF">2026-10-13T09:58:26Z</dcterms:created>
  <dcterms:modified xsi:type="dcterms:W3CDTF">2026-10-13T09:58:26Z</dcterms:modified>
</cp:coreProperties>
</file>