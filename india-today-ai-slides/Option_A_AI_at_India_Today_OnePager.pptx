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a3d8e8d-d68f-3290-1b86-2f65bb9ff0de}">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world grapples with AI, India Today Group jumped in head first. AI runs across the newsroom workflow: India's first AI news anchor and AI doubles of our anchors, an AI-enabled CMS, AI audio-visual production, landmark AI storytelling (Operation Sindoor film, the AI national anthem), and automation of routine updates. Truth and credibility remain at the heart of it. A 50-year legacy, gearing for the next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Hero-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nayak/e234e072-51fc-5a89-bcc1-7181d2d8a173/scratchpad/build/assets/logo.png">    </p:cNvPr>
          <p:cNvPicPr>
            <a:picLocks noChangeAspect="1"/>
          </p:cNvPicPr>
          <p:nvPr/>
        </p:nvPicPr>
        <p:blipFill>
          <a:blip r:embed="rId1"/>
          <a:stretch>
            <a:fillRect/>
          </a:stretch>
        </p:blipFill>
        <p:spPr>
          <a:xfrm>
            <a:off x="548640" y="411480"/>
            <a:ext cx="768096" cy="7315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nayak/e234e072-51fc-5a89-bcc1-7181d2d8a173/scratchpad/build/assets/logo.png">    </p:cNvPr>
          <p:cNvPicPr>
            <a:picLocks noChangeAspect="1"/>
          </p:cNvPicPr>
          <p:nvPr/>
        </p:nvPicPr>
        <p:blipFill>
          <a:blip r:embed="rId1"/>
          <a:stretch>
            <a:fillRect/>
          </a:stretch>
        </p:blipFill>
        <p:spPr>
          <a:xfrm>
            <a:off x="11045952" y="411480"/>
            <a:ext cx="621792" cy="594360"/>
          </a:xfrm>
          <a:prstGeom prst="rect">
            <a:avLst/>
          </a:prstGeom>
        </p:spPr>
      </p:pic>
      <p:sp>
        <p:nvSpPr>
          <p:cNvPr id="3" name="Text 0"/>
          <p:cNvSpPr/>
          <p:nvPr>
            <p:ph idx="101" type="title" hasCustomPrompt="1"/>
          </p:nvPr>
        </p:nvSpPr>
        <p:spPr>
          <a:xfrm>
            <a:off x="548640" y="640080"/>
            <a:ext cx="987552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384048"/>
            <a:ext cx="7315200" cy="274320"/>
          </a:xfrm>
          <a:prstGeom prst="rect">
            <a:avLst/>
          </a:prstGeom>
          <a:noFill/>
          <a:ln/>
        </p:spPr>
        <p:txBody>
          <a:bodyPr wrap="square" rtlCol="0"/>
          <a:lstStyle>
            <a:lvl1pPr algn="l" indent="0" marL="0">
              <a:buNone/>
              <a:defRPr lang="en-US" sz="1100" b="1" spc="160" kern="0" dirty="0">
                <a:solidFill>
                  <a:schemeClr val="accent1"/>
                </a:solidFill>
              </a:defRPr>
            </a:lvl1pPr>
          </a:lstStyle>
          <a:p>
            <a:pPr algn="l" indent="0" marL="0">
              <a:buNone/>
            </a:pP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Wedge motif" descr="/tmp/claude-0/-home-user-nayak/e234e072-51fc-5a89-bcc1-7181d2d8a173/scratchpad/build/assets/wedge_hero.png">    </p:cNvPr>
          <p:cNvPicPr>
            <a:picLocks noChangeAspect="1"/>
          </p:cNvPicPr>
          <p:nvPr/>
        </p:nvPicPr>
        <p:blipFill>
          <a:blip r:embed="rId1"/>
          <a:stretch>
            <a:fillRect/>
          </a:stretch>
        </p:blipFill>
        <p:spPr>
          <a:xfrm>
            <a:off x="7452360" y="-502920"/>
            <a:ext cx="4983480" cy="4654296"/>
          </a:xfrm>
          <a:prstGeom prst="rect">
            <a:avLst/>
          </a:prstGeom>
        </p:spPr>
      </p:pic>
      <p:sp>
        <p:nvSpPr>
          <p:cNvPr id="3" name="Text 0"/>
          <p:cNvSpPr txBox="1"/>
          <p:nvPr/>
        </p:nvSpPr>
        <p:spPr>
          <a:xfrm>
            <a:off x="548640" y="1325880"/>
            <a:ext cx="6400800" cy="274320"/>
          </a:xfrm>
          <a:prstGeom prst="rect">
            <a:avLst/>
          </a:prstGeom>
          <a:noFill/>
          <a:ln/>
        </p:spPr>
        <p:txBody>
          <a:bodyPr wrap="square" lIns="0" tIns="0" rIns="0" bIns="0" rtlCol="0" anchor="ctr"/>
          <a:lstStyle/>
          <a:p>
            <a:pPr indent="0" marL="0">
              <a:buNone/>
            </a:pPr>
            <a:r>
              <a:rPr lang="en-US" sz="1100" b="1" spc="160" kern="0" dirty="0">
                <a:solidFill>
                  <a:schemeClr val="accent1"/>
                </a:solidFill>
              </a:rPr>
              <a:t>AI AT INDIA TODAY GROUP</a:t>
            </a:r>
            <a:endParaRPr lang="en-US" sz="1100" dirty="0"/>
          </a:p>
        </p:txBody>
      </p:sp>
      <p:sp>
        <p:nvSpPr>
          <p:cNvPr id="4" name="Headline"/>
          <p:cNvSpPr txBox="1"/>
          <p:nvPr/>
        </p:nvSpPr>
        <p:spPr>
          <a:xfrm>
            <a:off x="548640" y="1645920"/>
            <a:ext cx="6949440" cy="1051560"/>
          </a:xfrm>
          <a:prstGeom prst="rect">
            <a:avLst/>
          </a:prstGeom>
          <a:noFill/>
          <a:ln/>
        </p:spPr>
        <p:txBody>
          <a:bodyPr wrap="square" lIns="0" tIns="0" rIns="0" bIns="0" rtlCol="0" anchor="t"/>
          <a:lstStyle/>
          <a:p>
            <a:pPr indent="0" marL="0">
              <a:lnSpc>
                <a:spcPct val="95000"/>
              </a:lnSpc>
              <a:buNone/>
            </a:pPr>
            <a:r>
              <a:rPr lang="en-US" sz="3400" b="1" dirty="0">
                <a:solidFill>
                  <a:schemeClr val="bg1"/>
                </a:solidFill>
              </a:rPr>
              <a:t>We didn't just crack AI.</a:t>
            </a:r>
            <a:endParaRPr lang="en-US" sz="3400" dirty="0"/>
          </a:p>
          <a:p>
            <a:pPr indent="0" marL="0">
              <a:lnSpc>
                <a:spcPct val="95000"/>
              </a:lnSpc>
              <a:buNone/>
            </a:pPr>
            <a:r>
              <a:rPr lang="en-US" sz="3400" b="1" dirty="0">
                <a:solidFill>
                  <a:schemeClr val="accent4"/>
                </a:solidFill>
              </a:rPr>
              <a:t>We wove it into the newsroom.</a:t>
            </a:r>
            <a:endParaRPr lang="en-US" sz="3400" dirty="0"/>
          </a:p>
        </p:txBody>
      </p:sp>
      <p:sp>
        <p:nvSpPr>
          <p:cNvPr id="5" name="Intro"/>
          <p:cNvSpPr txBox="1"/>
          <p:nvPr/>
        </p:nvSpPr>
        <p:spPr>
          <a:xfrm>
            <a:off x="548640" y="2788920"/>
            <a:ext cx="6675120" cy="731520"/>
          </a:xfrm>
          <a:prstGeom prst="rect">
            <a:avLst/>
          </a:prstGeom>
          <a:noFill/>
          <a:ln/>
        </p:spPr>
        <p:txBody>
          <a:bodyPr wrap="square" lIns="0" tIns="0" rIns="0" bIns="0" rtlCol="0" anchor="t"/>
          <a:lstStyle/>
          <a:p>
            <a:pPr indent="0" marL="0">
              <a:buNone/>
            </a:pPr>
            <a:r>
              <a:rPr lang="en-US" sz="1300" dirty="0">
                <a:solidFill>
                  <a:schemeClr val="accent2"/>
                </a:solidFill>
              </a:rPr>
              <a:t>While the world grapples with what AI means, India Today Group jumped in head first, integrating it across our entire newsroom workflow, well beyond the traditional confines of front and back office.</a:t>
            </a:r>
            <a:endParaRPr lang="en-US" sz="1300" dirty="0"/>
          </a:p>
        </p:txBody>
      </p:sp>
      <p:sp>
        <p:nvSpPr>
          <p:cNvPr id="6" name="Card 1"/>
          <p:cNvSpPr/>
          <p:nvPr/>
        </p:nvSpPr>
        <p:spPr>
          <a:xfrm>
            <a:off x="548640" y="3639312"/>
            <a:ext cx="2072579" cy="2331720"/>
          </a:xfrm>
          <a:prstGeom prst="rect">
            <a:avLst/>
          </a:prstGeom>
          <a:solidFill>
            <a:srgbClr val="16161C">
              <a:alpha val="88000"/>
            </a:srgbClr>
          </a:solidFill>
          <a:ln w="9525">
            <a:solidFill>
              <a:srgbClr val="2C2C36"/>
            </a:solidFill>
            <a:prstDash val="solid"/>
          </a:ln>
        </p:spPr>
      </p:sp>
      <p:sp>
        <p:nvSpPr>
          <p:cNvPr id="7" name="Card 1 disc"/>
          <p:cNvSpPr/>
          <p:nvPr/>
        </p:nvSpPr>
        <p:spPr>
          <a:xfrm>
            <a:off x="731520" y="3840480"/>
            <a:ext cx="475488" cy="475488"/>
          </a:xfrm>
          <a:prstGeom prst="ellipse">
            <a:avLst/>
          </a:prstGeom>
          <a:solidFill>
            <a:srgbClr val="E31E24"/>
          </a:solidFill>
          <a:ln w="9525">
            <a:solidFill>
              <a:srgbClr val="E31E24"/>
            </a:solidFill>
            <a:prstDash val="solid"/>
          </a:ln>
        </p:spPr>
      </p:sp>
      <p:pic>
        <p:nvPicPr>
          <p:cNvPr id="8" name="Card 1 icon" descr="preencoded.png">    </p:cNvPr>
          <p:cNvPicPr>
            <a:picLocks noChangeAspect="1"/>
          </p:cNvPicPr>
          <p:nvPr/>
        </p:nvPicPr>
        <p:blipFill>
          <a:blip r:embed="rId2"/>
          <a:stretch>
            <a:fillRect/>
          </a:stretch>
        </p:blipFill>
        <p:spPr>
          <a:xfrm>
            <a:off x="859902" y="3968862"/>
            <a:ext cx="218724" cy="218724"/>
          </a:xfrm>
          <a:prstGeom prst="rect">
            <a:avLst/>
          </a:prstGeom>
        </p:spPr>
      </p:pic>
      <p:sp>
        <p:nvSpPr>
          <p:cNvPr id="9" name="Card 1 badge"/>
          <p:cNvSpPr txBox="1"/>
          <p:nvPr/>
        </p:nvSpPr>
        <p:spPr>
          <a:xfrm>
            <a:off x="1569659" y="3959352"/>
            <a:ext cx="868680" cy="237744"/>
          </a:xfrm>
          <a:prstGeom prst="roundRect">
            <a:avLst>
              <a:gd name="adj" fmla="val 50000"/>
            </a:avLst>
          </a:prstGeom>
          <a:solidFill>
            <a:srgbClr val="E31E24">
              <a:alpha val="20000"/>
            </a:srgbClr>
          </a:solidFill>
          <a:ln w="9525">
            <a:solidFill>
              <a:srgbClr val="E31E24"/>
            </a:solidFill>
          </a:ln>
        </p:spPr>
        <p:txBody>
          <a:bodyPr wrap="square" lIns="0" tIns="0" rIns="0" bIns="0" rtlCol="0" anchor="ctr"/>
          <a:lstStyle/>
          <a:p>
            <a:pPr algn="ctr" indent="0" marL="0">
              <a:buNone/>
            </a:pPr>
            <a:r>
              <a:rPr lang="en-US" sz="800" b="1" spc="100" kern="0" dirty="0">
                <a:solidFill>
                  <a:schemeClr val="accent4"/>
                </a:solidFill>
              </a:rPr>
              <a:t>INDIA FIRST</a:t>
            </a:r>
            <a:endParaRPr lang="en-US" sz="800" dirty="0"/>
          </a:p>
        </p:txBody>
      </p:sp>
      <p:sp>
        <p:nvSpPr>
          <p:cNvPr id="10" name="Text 6"/>
          <p:cNvSpPr txBox="1"/>
          <p:nvPr/>
        </p:nvSpPr>
        <p:spPr>
          <a:xfrm>
            <a:off x="731520" y="4443984"/>
            <a:ext cx="1706819" cy="457200"/>
          </a:xfrm>
          <a:prstGeom prst="rect">
            <a:avLst/>
          </a:prstGeom>
          <a:noFill/>
          <a:ln/>
        </p:spPr>
        <p:txBody>
          <a:bodyPr wrap="square" lIns="0" tIns="0" rIns="0" bIns="0" rtlCol="0" anchor="t"/>
          <a:lstStyle/>
          <a:p>
            <a:pPr indent="0" marL="0">
              <a:buNone/>
            </a:pPr>
            <a:r>
              <a:rPr lang="en-US" sz="1300" b="1" dirty="0">
                <a:solidFill>
                  <a:schemeClr val="bg1"/>
                </a:solidFill>
              </a:rPr>
              <a:t>AI Anchors &amp;</a:t>
            </a:r>
            <a:endParaRPr lang="en-US" sz="1300" dirty="0"/>
          </a:p>
          <a:p>
            <a:pPr indent="0" marL="0">
              <a:buNone/>
            </a:pPr>
            <a:r>
              <a:rPr lang="en-US" sz="1300" b="1" dirty="0">
                <a:solidFill>
                  <a:schemeClr val="bg1"/>
                </a:solidFill>
              </a:rPr>
              <a:t>Doubles</a:t>
            </a:r>
            <a:endParaRPr lang="en-US" sz="1300" dirty="0"/>
          </a:p>
        </p:txBody>
      </p:sp>
      <p:sp>
        <p:nvSpPr>
          <p:cNvPr id="11" name="Text 7"/>
          <p:cNvSpPr txBox="1"/>
          <p:nvPr/>
        </p:nvSpPr>
        <p:spPr>
          <a:xfrm>
            <a:off x="731520" y="4965192"/>
            <a:ext cx="1706819" cy="914400"/>
          </a:xfrm>
          <a:prstGeom prst="rect">
            <a:avLst/>
          </a:prstGeom>
          <a:noFill/>
          <a:ln/>
        </p:spPr>
        <p:txBody>
          <a:bodyPr wrap="square" lIns="0" tIns="0" rIns="0" bIns="0" rtlCol="0" anchor="t"/>
          <a:lstStyle/>
          <a:p>
            <a:pPr indent="0" marL="0">
              <a:lnSpc>
                <a:spcPct val="105000"/>
              </a:lnSpc>
              <a:buNone/>
            </a:pPr>
            <a:r>
              <a:rPr lang="en-US" sz="1050" dirty="0">
                <a:solidFill>
                  <a:schemeClr val="accent2"/>
                </a:solidFill>
              </a:rPr>
              <a:t>India's first AI news anchor, and AI doubles that keep coverage live while our anchors report from the field.</a:t>
            </a:r>
            <a:endParaRPr lang="en-US" sz="1050" dirty="0"/>
          </a:p>
        </p:txBody>
      </p:sp>
      <p:sp>
        <p:nvSpPr>
          <p:cNvPr id="12" name="Card 2"/>
          <p:cNvSpPr/>
          <p:nvPr/>
        </p:nvSpPr>
        <p:spPr>
          <a:xfrm>
            <a:off x="2804099" y="3639312"/>
            <a:ext cx="2072579" cy="2331720"/>
          </a:xfrm>
          <a:prstGeom prst="rect">
            <a:avLst/>
          </a:prstGeom>
          <a:solidFill>
            <a:srgbClr val="16161C">
              <a:alpha val="88000"/>
            </a:srgbClr>
          </a:solidFill>
          <a:ln w="9525">
            <a:solidFill>
              <a:srgbClr val="2C2C36"/>
            </a:solidFill>
            <a:prstDash val="solid"/>
          </a:ln>
        </p:spPr>
      </p:sp>
      <p:sp>
        <p:nvSpPr>
          <p:cNvPr id="13" name="Card 2 disc"/>
          <p:cNvSpPr/>
          <p:nvPr/>
        </p:nvSpPr>
        <p:spPr>
          <a:xfrm>
            <a:off x="2986979" y="3840480"/>
            <a:ext cx="475488" cy="475488"/>
          </a:xfrm>
          <a:prstGeom prst="ellipse">
            <a:avLst/>
          </a:prstGeom>
          <a:solidFill>
            <a:srgbClr val="E31E24"/>
          </a:solidFill>
          <a:ln w="9525">
            <a:solidFill>
              <a:srgbClr val="E31E24"/>
            </a:solidFill>
            <a:prstDash val="solid"/>
          </a:ln>
        </p:spPr>
      </p:sp>
      <p:pic>
        <p:nvPicPr>
          <p:cNvPr id="14" name="Card 2 icon" descr="preencoded.png">    </p:cNvPr>
          <p:cNvPicPr>
            <a:picLocks noChangeAspect="1"/>
          </p:cNvPicPr>
          <p:nvPr/>
        </p:nvPicPr>
        <p:blipFill>
          <a:blip r:embed="rId3"/>
          <a:stretch>
            <a:fillRect/>
          </a:stretch>
        </p:blipFill>
        <p:spPr>
          <a:xfrm>
            <a:off x="3115361" y="3968862"/>
            <a:ext cx="218724" cy="218724"/>
          </a:xfrm>
          <a:prstGeom prst="rect">
            <a:avLst/>
          </a:prstGeom>
        </p:spPr>
      </p:pic>
      <p:sp>
        <p:nvSpPr>
          <p:cNvPr id="15" name="Text 10"/>
          <p:cNvSpPr txBox="1"/>
          <p:nvPr/>
        </p:nvSpPr>
        <p:spPr>
          <a:xfrm>
            <a:off x="2986979" y="4443984"/>
            <a:ext cx="1706819" cy="457200"/>
          </a:xfrm>
          <a:prstGeom prst="rect">
            <a:avLst/>
          </a:prstGeom>
          <a:noFill/>
          <a:ln/>
        </p:spPr>
        <p:txBody>
          <a:bodyPr wrap="square" lIns="0" tIns="0" rIns="0" bIns="0" rtlCol="0" anchor="t"/>
          <a:lstStyle/>
          <a:p>
            <a:pPr indent="0" marL="0">
              <a:buNone/>
            </a:pPr>
            <a:r>
              <a:rPr lang="en-US" sz="1300" b="1" dirty="0">
                <a:solidFill>
                  <a:schemeClr val="bg1"/>
                </a:solidFill>
              </a:rPr>
              <a:t>AI-Enabled</a:t>
            </a:r>
            <a:endParaRPr lang="en-US" sz="1300" dirty="0"/>
          </a:p>
          <a:p>
            <a:pPr indent="0" marL="0">
              <a:buNone/>
            </a:pPr>
            <a:r>
              <a:rPr lang="en-US" sz="1300" b="1" dirty="0">
                <a:solidFill>
                  <a:schemeClr val="bg1"/>
                </a:solidFill>
              </a:rPr>
              <a:t>CMS</a:t>
            </a:r>
            <a:endParaRPr lang="en-US" sz="1300" dirty="0"/>
          </a:p>
        </p:txBody>
      </p:sp>
      <p:sp>
        <p:nvSpPr>
          <p:cNvPr id="16" name="Text 11"/>
          <p:cNvSpPr txBox="1"/>
          <p:nvPr/>
        </p:nvSpPr>
        <p:spPr>
          <a:xfrm>
            <a:off x="2986979" y="4965192"/>
            <a:ext cx="1706819" cy="914400"/>
          </a:xfrm>
          <a:prstGeom prst="rect">
            <a:avLst/>
          </a:prstGeom>
          <a:noFill/>
          <a:ln/>
        </p:spPr>
        <p:txBody>
          <a:bodyPr wrap="square" lIns="0" tIns="0" rIns="0" bIns="0" rtlCol="0" anchor="t"/>
          <a:lstStyle/>
          <a:p>
            <a:pPr indent="0" marL="0">
              <a:lnSpc>
                <a:spcPct val="105000"/>
              </a:lnSpc>
              <a:buNone/>
            </a:pPr>
            <a:r>
              <a:rPr lang="en-US" sz="1050" dirty="0">
                <a:solidFill>
                  <a:schemeClr val="accent2"/>
                </a:solidFill>
              </a:rPr>
              <a:t>A smarter content management system for faster creation, adaptation and delivery of content.</a:t>
            </a:r>
            <a:endParaRPr lang="en-US" sz="1050" dirty="0"/>
          </a:p>
        </p:txBody>
      </p:sp>
      <p:sp>
        <p:nvSpPr>
          <p:cNvPr id="17" name="Card 3"/>
          <p:cNvSpPr/>
          <p:nvPr/>
        </p:nvSpPr>
        <p:spPr>
          <a:xfrm>
            <a:off x="5059558" y="3639312"/>
            <a:ext cx="2072579" cy="2331720"/>
          </a:xfrm>
          <a:prstGeom prst="rect">
            <a:avLst/>
          </a:prstGeom>
          <a:solidFill>
            <a:srgbClr val="16161C">
              <a:alpha val="88000"/>
            </a:srgbClr>
          </a:solidFill>
          <a:ln w="9525">
            <a:solidFill>
              <a:srgbClr val="2C2C36"/>
            </a:solidFill>
            <a:prstDash val="solid"/>
          </a:ln>
        </p:spPr>
      </p:sp>
      <p:sp>
        <p:nvSpPr>
          <p:cNvPr id="18" name="Card 3 disc"/>
          <p:cNvSpPr/>
          <p:nvPr/>
        </p:nvSpPr>
        <p:spPr>
          <a:xfrm>
            <a:off x="5242438" y="3840480"/>
            <a:ext cx="475488" cy="475488"/>
          </a:xfrm>
          <a:prstGeom prst="ellipse">
            <a:avLst/>
          </a:prstGeom>
          <a:solidFill>
            <a:srgbClr val="E31E24"/>
          </a:solidFill>
          <a:ln w="9525">
            <a:solidFill>
              <a:srgbClr val="E31E24"/>
            </a:solidFill>
            <a:prstDash val="solid"/>
          </a:ln>
        </p:spPr>
      </p:sp>
      <p:pic>
        <p:nvPicPr>
          <p:cNvPr id="19" name="Card 3 icon" descr="preencoded.png">    </p:cNvPr>
          <p:cNvPicPr>
            <a:picLocks noChangeAspect="1"/>
          </p:cNvPicPr>
          <p:nvPr/>
        </p:nvPicPr>
        <p:blipFill>
          <a:blip r:embed="rId4"/>
          <a:stretch>
            <a:fillRect/>
          </a:stretch>
        </p:blipFill>
        <p:spPr>
          <a:xfrm>
            <a:off x="5370820" y="3968862"/>
            <a:ext cx="218724" cy="218724"/>
          </a:xfrm>
          <a:prstGeom prst="rect">
            <a:avLst/>
          </a:prstGeom>
        </p:spPr>
      </p:pic>
      <p:sp>
        <p:nvSpPr>
          <p:cNvPr id="20" name="Text 14"/>
          <p:cNvSpPr txBox="1"/>
          <p:nvPr/>
        </p:nvSpPr>
        <p:spPr>
          <a:xfrm>
            <a:off x="5242438" y="4443984"/>
            <a:ext cx="1706819" cy="457200"/>
          </a:xfrm>
          <a:prstGeom prst="rect">
            <a:avLst/>
          </a:prstGeom>
          <a:noFill/>
          <a:ln/>
        </p:spPr>
        <p:txBody>
          <a:bodyPr wrap="square" lIns="0" tIns="0" rIns="0" bIns="0" rtlCol="0" anchor="t"/>
          <a:lstStyle/>
          <a:p>
            <a:pPr indent="0" marL="0">
              <a:buNone/>
            </a:pPr>
            <a:r>
              <a:rPr lang="en-US" sz="1300" b="1" dirty="0">
                <a:solidFill>
                  <a:schemeClr val="bg1"/>
                </a:solidFill>
              </a:rPr>
              <a:t>AI Audio-Visual</a:t>
            </a:r>
            <a:endParaRPr lang="en-US" sz="1300" dirty="0"/>
          </a:p>
          <a:p>
            <a:pPr indent="0" marL="0">
              <a:buNone/>
            </a:pPr>
            <a:r>
              <a:rPr lang="en-US" sz="1300" b="1" dirty="0">
                <a:solidFill>
                  <a:schemeClr val="bg1"/>
                </a:solidFill>
              </a:rPr>
              <a:t>Studio</a:t>
            </a:r>
            <a:endParaRPr lang="en-US" sz="1300" dirty="0"/>
          </a:p>
        </p:txBody>
      </p:sp>
      <p:sp>
        <p:nvSpPr>
          <p:cNvPr id="21" name="Text 15"/>
          <p:cNvSpPr txBox="1"/>
          <p:nvPr/>
        </p:nvSpPr>
        <p:spPr>
          <a:xfrm>
            <a:off x="5242438" y="4965192"/>
            <a:ext cx="1706819" cy="914400"/>
          </a:xfrm>
          <a:prstGeom prst="rect">
            <a:avLst/>
          </a:prstGeom>
          <a:noFill/>
          <a:ln/>
        </p:spPr>
        <p:txBody>
          <a:bodyPr wrap="square" lIns="0" tIns="0" rIns="0" bIns="0" rtlCol="0" anchor="t"/>
          <a:lstStyle/>
          <a:p>
            <a:pPr indent="0" marL="0">
              <a:lnSpc>
                <a:spcPct val="105000"/>
              </a:lnSpc>
              <a:buNone/>
            </a:pPr>
            <a:r>
              <a:rPr lang="en-US" sz="1050" dirty="0">
                <a:solidFill>
                  <a:schemeClr val="accent2"/>
                </a:solidFill>
              </a:rPr>
              <a:t>Voiceovers, images, video, infographics, magazine covers, illustrations and even AI fashion shows.</a:t>
            </a:r>
            <a:endParaRPr lang="en-US" sz="1050" dirty="0"/>
          </a:p>
        </p:txBody>
      </p:sp>
      <p:sp>
        <p:nvSpPr>
          <p:cNvPr id="22" name="Card 4"/>
          <p:cNvSpPr/>
          <p:nvPr/>
        </p:nvSpPr>
        <p:spPr>
          <a:xfrm>
            <a:off x="7315017" y="3639312"/>
            <a:ext cx="2072579" cy="2331720"/>
          </a:xfrm>
          <a:prstGeom prst="rect">
            <a:avLst/>
          </a:prstGeom>
          <a:solidFill>
            <a:srgbClr val="16161C">
              <a:alpha val="88000"/>
            </a:srgbClr>
          </a:solidFill>
          <a:ln w="9525">
            <a:solidFill>
              <a:srgbClr val="2C2C36"/>
            </a:solidFill>
            <a:prstDash val="solid"/>
          </a:ln>
        </p:spPr>
      </p:sp>
      <p:sp>
        <p:nvSpPr>
          <p:cNvPr id="23" name="Card 4 disc"/>
          <p:cNvSpPr/>
          <p:nvPr/>
        </p:nvSpPr>
        <p:spPr>
          <a:xfrm>
            <a:off x="7497897" y="3840480"/>
            <a:ext cx="475488" cy="475488"/>
          </a:xfrm>
          <a:prstGeom prst="ellipse">
            <a:avLst/>
          </a:prstGeom>
          <a:solidFill>
            <a:srgbClr val="E31E24"/>
          </a:solidFill>
          <a:ln w="9525">
            <a:solidFill>
              <a:srgbClr val="E31E24"/>
            </a:solidFill>
            <a:prstDash val="solid"/>
          </a:ln>
        </p:spPr>
      </p:sp>
      <p:pic>
        <p:nvPicPr>
          <p:cNvPr id="24" name="Card 4 icon" descr="preencoded.png">    </p:cNvPr>
          <p:cNvPicPr>
            <a:picLocks noChangeAspect="1"/>
          </p:cNvPicPr>
          <p:nvPr/>
        </p:nvPicPr>
        <p:blipFill>
          <a:blip r:embed="rId5"/>
          <a:stretch>
            <a:fillRect/>
          </a:stretch>
        </p:blipFill>
        <p:spPr>
          <a:xfrm>
            <a:off x="7626279" y="3968862"/>
            <a:ext cx="218724" cy="218724"/>
          </a:xfrm>
          <a:prstGeom prst="rect">
            <a:avLst/>
          </a:prstGeom>
        </p:spPr>
      </p:pic>
      <p:sp>
        <p:nvSpPr>
          <p:cNvPr id="25" name="Card 4 badge"/>
          <p:cNvSpPr txBox="1"/>
          <p:nvPr/>
        </p:nvSpPr>
        <p:spPr>
          <a:xfrm>
            <a:off x="8336036" y="3959352"/>
            <a:ext cx="868680" cy="237744"/>
          </a:xfrm>
          <a:prstGeom prst="roundRect">
            <a:avLst>
              <a:gd name="adj" fmla="val 50000"/>
            </a:avLst>
          </a:prstGeom>
          <a:solidFill>
            <a:srgbClr val="E31E24">
              <a:alpha val="20000"/>
            </a:srgbClr>
          </a:solidFill>
          <a:ln w="9525">
            <a:solidFill>
              <a:srgbClr val="E31E24"/>
            </a:solidFill>
          </a:ln>
        </p:spPr>
        <p:txBody>
          <a:bodyPr wrap="square" lIns="0" tIns="0" rIns="0" bIns="0" rtlCol="0" anchor="ctr"/>
          <a:lstStyle/>
          <a:p>
            <a:pPr algn="ctr" indent="0" marL="0">
              <a:buNone/>
            </a:pPr>
            <a:r>
              <a:rPr lang="en-US" sz="800" b="1" spc="100" kern="0" dirty="0">
                <a:solidFill>
                  <a:schemeClr val="accent4"/>
                </a:solidFill>
              </a:rPr>
              <a:t>INDIA FIRST</a:t>
            </a:r>
            <a:endParaRPr lang="en-US" sz="800" dirty="0"/>
          </a:p>
        </p:txBody>
      </p:sp>
      <p:sp>
        <p:nvSpPr>
          <p:cNvPr id="26" name="Text 19"/>
          <p:cNvSpPr txBox="1"/>
          <p:nvPr/>
        </p:nvSpPr>
        <p:spPr>
          <a:xfrm>
            <a:off x="7497897" y="4443984"/>
            <a:ext cx="1706819" cy="457200"/>
          </a:xfrm>
          <a:prstGeom prst="rect">
            <a:avLst/>
          </a:prstGeom>
          <a:noFill/>
          <a:ln/>
        </p:spPr>
        <p:txBody>
          <a:bodyPr wrap="square" lIns="0" tIns="0" rIns="0" bIns="0" rtlCol="0" anchor="t"/>
          <a:lstStyle/>
          <a:p>
            <a:pPr indent="0" marL="0">
              <a:buNone/>
            </a:pPr>
            <a:r>
              <a:rPr lang="en-US" sz="1300" b="1" dirty="0">
                <a:solidFill>
                  <a:schemeClr val="bg1"/>
                </a:solidFill>
              </a:rPr>
              <a:t>AI</a:t>
            </a:r>
            <a:endParaRPr lang="en-US" sz="1300" dirty="0"/>
          </a:p>
          <a:p>
            <a:pPr indent="0" marL="0">
              <a:buNone/>
            </a:pPr>
            <a:r>
              <a:rPr lang="en-US" sz="1300" b="1" dirty="0">
                <a:solidFill>
                  <a:schemeClr val="bg1"/>
                </a:solidFill>
              </a:rPr>
              <a:t>Storytelling</a:t>
            </a:r>
            <a:endParaRPr lang="en-US" sz="1300" dirty="0"/>
          </a:p>
        </p:txBody>
      </p:sp>
      <p:sp>
        <p:nvSpPr>
          <p:cNvPr id="27" name="Text 20"/>
          <p:cNvSpPr txBox="1"/>
          <p:nvPr/>
        </p:nvSpPr>
        <p:spPr>
          <a:xfrm>
            <a:off x="7497897" y="4965192"/>
            <a:ext cx="1706819" cy="914400"/>
          </a:xfrm>
          <a:prstGeom prst="rect">
            <a:avLst/>
          </a:prstGeom>
          <a:noFill/>
          <a:ln/>
        </p:spPr>
        <p:txBody>
          <a:bodyPr wrap="square" lIns="0" tIns="0" rIns="0" bIns="0" rtlCol="0" anchor="t"/>
          <a:lstStyle/>
          <a:p>
            <a:pPr indent="0" marL="0">
              <a:lnSpc>
                <a:spcPct val="105000"/>
              </a:lnSpc>
              <a:buNone/>
            </a:pPr>
            <a:r>
              <a:rPr lang="en-US" sz="1050" dirty="0">
                <a:solidFill>
                  <a:schemeClr val="accent2"/>
                </a:solidFill>
              </a:rPr>
              <a:t>First Indian newsroom to broadcast a fully AI-made film, and India's national anthem reimagined with its freedom fighters.</a:t>
            </a:r>
            <a:endParaRPr lang="en-US" sz="1050" dirty="0"/>
          </a:p>
        </p:txBody>
      </p:sp>
      <p:sp>
        <p:nvSpPr>
          <p:cNvPr id="28" name="Card 5"/>
          <p:cNvSpPr/>
          <p:nvPr/>
        </p:nvSpPr>
        <p:spPr>
          <a:xfrm>
            <a:off x="9570476" y="3639312"/>
            <a:ext cx="2072579" cy="2331720"/>
          </a:xfrm>
          <a:prstGeom prst="rect">
            <a:avLst/>
          </a:prstGeom>
          <a:solidFill>
            <a:srgbClr val="16161C">
              <a:alpha val="88000"/>
            </a:srgbClr>
          </a:solidFill>
          <a:ln w="9525">
            <a:solidFill>
              <a:srgbClr val="2C2C36"/>
            </a:solidFill>
            <a:prstDash val="solid"/>
          </a:ln>
        </p:spPr>
      </p:sp>
      <p:sp>
        <p:nvSpPr>
          <p:cNvPr id="29" name="Card 5 disc"/>
          <p:cNvSpPr/>
          <p:nvPr/>
        </p:nvSpPr>
        <p:spPr>
          <a:xfrm>
            <a:off x="9753356" y="3840480"/>
            <a:ext cx="475488" cy="475488"/>
          </a:xfrm>
          <a:prstGeom prst="ellipse">
            <a:avLst/>
          </a:prstGeom>
          <a:solidFill>
            <a:srgbClr val="E31E24"/>
          </a:solidFill>
          <a:ln w="9525">
            <a:solidFill>
              <a:srgbClr val="E31E24"/>
            </a:solidFill>
            <a:prstDash val="solid"/>
          </a:ln>
        </p:spPr>
      </p:sp>
      <p:pic>
        <p:nvPicPr>
          <p:cNvPr id="30" name="Card 5 icon" descr="preencoded.png">    </p:cNvPr>
          <p:cNvPicPr>
            <a:picLocks noChangeAspect="1"/>
          </p:cNvPicPr>
          <p:nvPr/>
        </p:nvPicPr>
        <p:blipFill>
          <a:blip r:embed="rId6"/>
          <a:stretch>
            <a:fillRect/>
          </a:stretch>
        </p:blipFill>
        <p:spPr>
          <a:xfrm>
            <a:off x="9881738" y="3968862"/>
            <a:ext cx="218724" cy="218724"/>
          </a:xfrm>
          <a:prstGeom prst="rect">
            <a:avLst/>
          </a:prstGeom>
        </p:spPr>
      </p:pic>
      <p:sp>
        <p:nvSpPr>
          <p:cNvPr id="31" name="Text 23"/>
          <p:cNvSpPr txBox="1"/>
          <p:nvPr/>
        </p:nvSpPr>
        <p:spPr>
          <a:xfrm>
            <a:off x="9753356" y="4443984"/>
            <a:ext cx="1706819" cy="457200"/>
          </a:xfrm>
          <a:prstGeom prst="rect">
            <a:avLst/>
          </a:prstGeom>
          <a:noFill/>
          <a:ln/>
        </p:spPr>
        <p:txBody>
          <a:bodyPr wrap="square" lIns="0" tIns="0" rIns="0" bIns="0" rtlCol="0" anchor="t"/>
          <a:lstStyle/>
          <a:p>
            <a:pPr indent="0" marL="0">
              <a:buNone/>
            </a:pPr>
            <a:r>
              <a:rPr lang="en-US" sz="1300" b="1" dirty="0">
                <a:solidFill>
                  <a:schemeClr val="bg1"/>
                </a:solidFill>
              </a:rPr>
              <a:t>Newsroom</a:t>
            </a:r>
            <a:endParaRPr lang="en-US" sz="1300" dirty="0"/>
          </a:p>
          <a:p>
            <a:pPr indent="0" marL="0">
              <a:buNone/>
            </a:pPr>
            <a:r>
              <a:rPr lang="en-US" sz="1300" b="1" dirty="0">
                <a:solidFill>
                  <a:schemeClr val="bg1"/>
                </a:solidFill>
              </a:rPr>
              <a:t>Automation</a:t>
            </a:r>
            <a:endParaRPr lang="en-US" sz="1300" dirty="0"/>
          </a:p>
        </p:txBody>
      </p:sp>
      <p:sp>
        <p:nvSpPr>
          <p:cNvPr id="32" name="Text 24"/>
          <p:cNvSpPr txBox="1"/>
          <p:nvPr/>
        </p:nvSpPr>
        <p:spPr>
          <a:xfrm>
            <a:off x="9753356" y="4965192"/>
            <a:ext cx="1706819" cy="914400"/>
          </a:xfrm>
          <a:prstGeom prst="rect">
            <a:avLst/>
          </a:prstGeom>
          <a:noFill/>
          <a:ln/>
        </p:spPr>
        <p:txBody>
          <a:bodyPr wrap="square" lIns="0" tIns="0" rIns="0" bIns="0" rtlCol="0" anchor="t"/>
          <a:lstStyle/>
          <a:p>
            <a:pPr indent="0" marL="0">
              <a:lnSpc>
                <a:spcPct val="105000"/>
              </a:lnSpc>
              <a:buNone/>
            </a:pPr>
            <a:r>
              <a:rPr lang="en-US" sz="1050" dirty="0">
                <a:solidFill>
                  <a:schemeClr val="accent2"/>
                </a:solidFill>
              </a:rPr>
              <a:t>Weather, air quality, fuel and commodity updates run on AI, freeing journalists for context and judgment.</a:t>
            </a:r>
            <a:endParaRPr lang="en-US" sz="1050" dirty="0"/>
          </a:p>
        </p:txBody>
      </p:sp>
      <p:sp>
        <p:nvSpPr>
          <p:cNvPr id="33" name="Text 25"/>
          <p:cNvSpPr txBox="1"/>
          <p:nvPr/>
        </p:nvSpPr>
        <p:spPr>
          <a:xfrm>
            <a:off x="548640" y="6217920"/>
            <a:ext cx="6400800" cy="274320"/>
          </a:xfrm>
          <a:prstGeom prst="rect">
            <a:avLst/>
          </a:prstGeom>
          <a:noFill/>
          <a:ln/>
        </p:spPr>
        <p:txBody>
          <a:bodyPr wrap="square" lIns="0" tIns="0" rIns="0" bIns="0" rtlCol="0" anchor="ctr"/>
          <a:lstStyle/>
          <a:p>
            <a:pPr indent="0" marL="0">
              <a:buNone/>
            </a:pPr>
            <a:r>
              <a:rPr lang="en-US" sz="1000" b="1" spc="140" kern="0" dirty="0">
                <a:solidFill>
                  <a:schemeClr val="accent2"/>
                </a:solidFill>
              </a:rPr>
              <a:t>TRUTH AND CREDIBILITY AT THE HEART OF EVERY AI INITIATIVE</a:t>
            </a:r>
            <a:endParaRPr lang="en-US" sz="1000" dirty="0"/>
          </a:p>
        </p:txBody>
      </p:sp>
      <p:sp>
        <p:nvSpPr>
          <p:cNvPr id="34" name="Text 26"/>
          <p:cNvSpPr txBox="1"/>
          <p:nvPr/>
        </p:nvSpPr>
        <p:spPr>
          <a:xfrm>
            <a:off x="6766560" y="6172200"/>
            <a:ext cx="4873752" cy="365760"/>
          </a:xfrm>
          <a:prstGeom prst="rect">
            <a:avLst/>
          </a:prstGeom>
          <a:noFill/>
          <a:ln/>
        </p:spPr>
        <p:txBody>
          <a:bodyPr wrap="square" lIns="0" tIns="0" rIns="0" bIns="0" rtlCol="0" anchor="ctr"/>
          <a:lstStyle/>
          <a:p>
            <a:pPr algn="r" indent="0" marL="0">
              <a:buNone/>
            </a:pPr>
            <a:r>
              <a:rPr lang="en-US" sz="1500" dirty="0">
                <a:solidFill>
                  <a:schemeClr val="bg1"/>
                </a:solidFill>
              </a:rPr>
              <a:t>A 50-year legacy, gearing for the </a:t>
            </a:r>
            <a:pPr algn="r" indent="0" marL="0">
              <a:buNone/>
            </a:pPr>
            <a:r>
              <a:rPr lang="en-US" sz="1500" b="1" dirty="0">
                <a:solidFill>
                  <a:schemeClr val="accent4"/>
                </a:solidFill>
              </a:rPr>
              <a:t>next 50.</a:t>
            </a:r>
            <a:endParaRPr lang="en-US" sz="1500" dirty="0"/>
          </a:p>
        </p:txBody>
      </p:sp>
    </p:spTree>
  </p:cSld>
  <p:clrMapOvr>
    <a:masterClrMapping/>
  </p:clrMapOvr>
</p:sld>
</file>

<file path=ppt/theme/theme1.xml><?xml version="1.0" encoding="utf-8"?>
<a:theme xmlns:a="http://schemas.openxmlformats.org/drawingml/2006/main" name="India Today AI">
  <a:themeElements>
    <a:clrScheme name="India Today AI">
      <a:dk1>
        <a:srgbClr val="0B0B0F"/>
      </a:dk1>
      <a:lt1>
        <a:srgbClr val="FFFFFF"/>
      </a:lt1>
      <a:dk2>
        <a:srgbClr val="16161C"/>
      </a:dk2>
      <a:lt2>
        <a:srgbClr val="F2F0EC"/>
      </a:lt2>
      <a:accent1>
        <a:srgbClr val="E31E24"/>
      </a:accent1>
      <a:accent2>
        <a:srgbClr val="A3A3AE"/>
      </a:accent2>
      <a:accent3>
        <a:srgbClr val="2C2C36"/>
      </a:accent3>
      <a:accent4>
        <a:srgbClr val="FF6B6F"/>
      </a:accent4>
      <a:accent5>
        <a:srgbClr val="6E6E7A"/>
      </a:accent5>
      <a:accent6>
        <a:srgbClr val="D6D6DD"/>
      </a:accent6>
      <a:hlink>
        <a:srgbClr val="FF6B6F"/>
      </a:hlink>
      <a:folHlink>
        <a:srgbClr val="A3A3AE"/>
      </a:folHlink>
    </a:clrScheme>
    <a:fontScheme name="India Today AI">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India Today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at India Today Group — Overview</dc:title>
  <dc:subject>PptxGenJS Presentation</dc:subject>
  <dc:creator>India Today Group</dc:creator>
  <cp:lastModifiedBy>India Today Group</cp:lastModifiedBy>
  <cp:revision>1</cp:revision>
  <dcterms:created xsi:type="dcterms:W3CDTF">2026-10-13T07:43:59Z</dcterms:created>
  <dcterms:modified xsi:type="dcterms:W3CDTF">2026-10-13T07:43:59Z</dcterms:modified>
</cp:coreProperties>
</file>